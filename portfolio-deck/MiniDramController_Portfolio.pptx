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kyongh0331@naver.com" TargetMode="External"/><Relationship Id="rId3" Type="http://schemas.openxmlformats.org/officeDocument/2006/relationships/hyperlink" Target="https://github.com/yhkwon-git/mini-dram-controller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371600"/>
            <a:ext cx="685800" cy="6400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7276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PORTFOLIO  ·  HBM DIGITAL DESIGN (RTL DESIGN)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Mini DRAM 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요청 큐 + 뱅크 병렬 스케줄러 — 스펙 · RTL · 검증 · 성능 / PPA 분석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703320"/>
            <a:ext cx="11091672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9776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지원 직무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3950208"/>
            <a:ext cx="969264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SK hynix  ·  HBM Digital Design (RTL Design)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9826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지원자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4370832"/>
            <a:ext cx="969264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용현 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188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저장소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4791456"/>
            <a:ext cx="969264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39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github.com/yhkwon-git/mini-dram-controller</a:t>
            </a:r>
            <a:r>
              <a:rPr sz="15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 ·  commit </a:t>
            </a:r>
            <a:r>
              <a:rPr sz="1439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6049e5a</a:t>
            </a:r>
            <a:r>
              <a:rPr sz="15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(2026-10-28)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3951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사용 도구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5212080"/>
            <a:ext cx="969264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SystemVerilog  ·  Verilator 5.052  ·  Yosys 0.52  ·  sv2v  ·  OpenSTA 3.1 (Nangate45)  ·  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파형 · 커버리지 · 합성 수치는 모두 저장소를 수정하지 않고 2026-10-31에 다시 실행해 얻은 결과다. 실험용 TB와 패치는 저장소 밖 스크래치 폴더에만 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Mini DRAM Controller  ·  요청 큐 + 뱅크 병렬 스케줄러  ·  용현 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1512" y="64739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01 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문제: 같은 요청도 뱅크 상태에 따라 지연이 2배 넘게 달라진다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DRAM 컨트롤러의 일은 명령 간격 규칙을 클럭 단위로 지키면서, 그 대기를 다른 뱅크의 작업으로 가리는 것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Mini DRAM Controller  ·  요청 큐 + 뱅크 병렬 스케줄러  ·  용현 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1512" y="64739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2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왜 이 프로젝트인가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576072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64592" indent="-164592">
              <a:lnSpc>
                <a:spcPct val="112000"/>
              </a:lnSpc>
              <a:spcAft>
                <a:spcPts val="700"/>
              </a:spcAft>
              <a:buClr>
                <a:srgbClr val="C8102E"/>
              </a:buClr>
              <a:buSzPct val="100000"/>
              <a:buFont typeface="Arial"/>
              <a:buChar char="■"/>
            </a:pPr>
            <a:r>
              <a:rPr sz="11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같은 bank 0에서 page hit RD는 6클럭, row conflict RD는 14클럭 (이번 재실행 측정). PRE · ACT 대기를 다른 뱅크 명령으로 채울 수 있느냐가 처리량을 정한다.</a:t>
            </a:r>
          </a:p>
          <a:p>
            <a:pPr algn="l" marL="164592" indent="-164592">
              <a:lnSpc>
                <a:spcPct val="112000"/>
              </a:lnSpc>
              <a:spcAft>
                <a:spcPts val="700"/>
              </a:spcAft>
              <a:buClr>
                <a:srgbClr val="C8102E"/>
              </a:buClr>
              <a:buSzPct val="100000"/>
              <a:buFont typeface="Arial"/>
              <a:buChar char="■"/>
            </a:pPr>
            <a:r>
              <a:rPr sz="11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v0는 요청을 하나씩 처리하는 단일 FSM. v1(</a:t>
            </a:r>
            <a:r>
              <a:rPr sz="110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6049e5a</a:t>
            </a:r>
            <a:r>
              <a:rPr sz="11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)은 깊이 4 큐 + 뱅크별 타이밍 엔진 ×4 + 클럭당 명령 1개를 고르는 중재기로 바꿨다 — 이 덱은 그 전환의 득실을 잰다.</a:t>
            </a:r>
          </a:p>
          <a:p>
            <a:pPr algn="l" marL="164592" indent="-164592">
              <a:lnSpc>
                <a:spcPct val="112000"/>
              </a:lnSpc>
              <a:spcAft>
                <a:spcPts val="700"/>
              </a:spcAft>
              <a:buClr>
                <a:srgbClr val="C8102E"/>
              </a:buClr>
              <a:buSzPct val="100000"/>
              <a:buFont typeface="Arial"/>
              <a:buChar char="■"/>
            </a:pPr>
            <a:r>
              <a:rPr sz="11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타이밍은 자체 축소 모델(tRCD 3 · tRP 3 · tRAS 6 · tRC 9 · tRFC 12 · tREFI 64 클럭). JEDEC 값이 아니라 구조와 규칙을 보는 스터디다.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24528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범위 — docs/spec.md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576072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5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host_if</a:t>
            </a:r>
            <a:r>
              <a:rPr sz="11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1055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mem_ctrl</a:t>
            </a:r>
            <a:r>
              <a:rPr sz="11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1055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dram_model</a:t>
            </a:r>
            <a:r>
              <a:rPr sz="11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, 단일 동기 클럭 · 비동기 리셋. 실제 PHY · 다중 랭크 · ECC · 사인오프 PPA는 저장소에 없고, 여기서도 만들어 넣지 않는다.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1755648"/>
            <a:ext cx="5010912" cy="457200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호스트  (TB: tb_mem_ctrl)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69480" y="2212848"/>
            <a:ext cx="0" cy="365760"/>
          </a:xfrm>
          <a:prstGeom prst="line">
            <a:avLst/>
          </a:prstGeom>
          <a:ln w="12700">
            <a:solidFill>
              <a:srgbClr val="57606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06640" y="2304288"/>
            <a:ext cx="411480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req_* valid/ready  ·  rsp_* valid/ready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2578608"/>
            <a:ext cx="5010912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642616"/>
            <a:ext cx="47365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4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mem_ctrl_top</a:t>
            </a:r>
            <a:r>
              <a:rPr sz="11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 — 이 저장소의 RTL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962656"/>
            <a:ext cx="1517904" cy="713232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u_host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host_if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조합 pass-through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75904" y="2962656"/>
            <a:ext cx="1517904" cy="713232"/>
          </a:xfrm>
          <a:prstGeom prst="rect">
            <a:avLst/>
          </a:prstGeom>
          <a:solidFill>
            <a:srgbClr val="FBE7E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u_ctrl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mem_ctrl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큐 · 엔진 ×4 · 중재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85248" y="2962656"/>
            <a:ext cx="1517904" cy="713232"/>
          </a:xfrm>
          <a:prstGeom prst="rect">
            <a:avLst/>
          </a:prstGeom>
          <a:solidFill>
            <a:srgbClr val="F6F8FA"/>
          </a:solidFill>
          <a:ln w="9525">
            <a:solidFill>
              <a:srgbClr val="8C959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u_dram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dram_model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TB용 동작 모델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84464" y="3319272"/>
            <a:ext cx="91440" cy="0"/>
          </a:xfrm>
          <a:prstGeom prst="line">
            <a:avLst/>
          </a:prstGeom>
          <a:ln w="12700">
            <a:solidFill>
              <a:srgbClr val="57606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893808" y="3319272"/>
            <a:ext cx="91440" cy="0"/>
          </a:xfrm>
          <a:prstGeom prst="line">
            <a:avLst/>
          </a:prstGeom>
          <a:ln w="12700">
            <a:solidFill>
              <a:srgbClr val="57606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66560" y="3730752"/>
            <a:ext cx="47365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clk 하나 · 클럭당 DRAM 명령 1개 · 뱅크 타이머 4개가 동시에 카운트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0" y="4224528"/>
            <a:ext cx="5010912" cy="74980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9128" y="4279392"/>
            <a:ext cx="4791456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v0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(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0cfe062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)  IDLE에서 요청 1개를 래치 → PRE/ACT/RD/WR을 순서대로</a:t>
            </a:r>
          </a:p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v1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(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6049e5a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)  큐가 받고, IDLE 뱅크로 dispatch, 엔진들이 겹쳐 진행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212080"/>
            <a:ext cx="2635758" cy="102412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212080"/>
            <a:ext cx="45720" cy="10241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321808"/>
            <a:ext cx="236143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5 파일 · 742줄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760720"/>
            <a:ext cx="2361438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RTL 5파일 (주석 · 빈 줄 제외 626줄) ·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mem_ctrl</a:t>
            </a:r>
            <a:r>
              <a:rPr sz="9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 355줄 · TB 241줄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67278" y="5212080"/>
            <a:ext cx="2635758" cy="102412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67278" y="5212080"/>
            <a:ext cx="45720" cy="10241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50158" y="5321808"/>
            <a:ext cx="236143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PASS · 위반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50158" y="5760720"/>
            <a:ext cx="2361438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저장소 TB 4개 시나리오 · 요청 18개 · VCD로 타이밍 규칙 7개 검사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5916" y="5212080"/>
            <a:ext cx="2635758" cy="102412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85916" y="5212080"/>
            <a:ext cx="45720" cy="10241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8796" y="5321808"/>
            <a:ext cx="236143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2.06× 버스트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8796" y="5760720"/>
            <a:ext cx="2361438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4뱅크 쓰기 4개: 첫 수락 → 마지막 응답 17클럭 (v0 35클럭)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4554" y="5212080"/>
            <a:ext cx="2635758" cy="102412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04554" y="5212080"/>
            <a:ext cx="45720" cy="10241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7434" y="5321808"/>
            <a:ext cx="236143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373 MHz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7434" y="5760720"/>
            <a:ext cx="2361438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면적 9,819 µm² · Nangate45 typical · 배선 없음 ·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mem_ctrl</a:t>
            </a:r>
            <a:r>
              <a:rPr sz="9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만 · 참고치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02  요구 스펙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스펙: 주소 맵 · 타이밍 8개 · 명령 6개를 dram_pkg 한 곳에 고정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docs/spec.md와 rtl/dram_pkg.sv가 같은 값 · 오른쪽 표의 '지키는 곳'은 그 규칙을 실제로 집행하는 RTL 위치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Mini DRAM Controller  ·  요청 큐 + 뱅크 병렬 스케줄러  ·  용현 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1512" y="64739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3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주소 14b → bank · row · col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868680" cy="475488"/>
          </a:xfrm>
          <a:prstGeom prst="rect">
            <a:avLst/>
          </a:prstGeom>
          <a:solidFill>
            <a:srgbClr val="FBE7EA"/>
          </a:solidFill>
          <a:ln w="9525">
            <a:solidFill>
              <a:srgbClr val="57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bank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[13:12]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19" y="2084831"/>
            <a:ext cx="2926080" cy="475488"/>
          </a:xfrm>
          <a:prstGeom prst="rect">
            <a:avLst/>
          </a:prstGeom>
          <a:solidFill>
            <a:srgbClr val="F6F8FA"/>
          </a:solidFill>
          <a:ln w="9525">
            <a:solidFill>
              <a:srgbClr val="57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row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[11:4]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084831"/>
            <a:ext cx="1463040" cy="475488"/>
          </a:xfrm>
          <a:prstGeom prst="rect">
            <a:avLst/>
          </a:prstGeom>
          <a:solidFill>
            <a:srgbClr val="F6F8FA"/>
          </a:solidFill>
          <a:ln w="9525">
            <a:solidFill>
              <a:srgbClr val="57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col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[3:0]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96896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4 뱅크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596896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256 row (8b)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596896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16 col (4b)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71216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4 × 256 × 16 = 16,384 워드 × 32b (64 KiB) · TB는 </a:t>
            </a:r>
            <a:r>
              <a:rPr sz="96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make_addr(b, r, c) = {b, r, c}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10128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명령 dram_cmd_e (3b) — 모델 동작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3639312"/>
          <a:ext cx="5394960" cy="185623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777240"/>
                <a:gridCol w="548640"/>
                <a:gridCol w="4069080"/>
              </a:tblGrid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명령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dram_model 동작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NOP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000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ACT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001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bank_open ← 1, bank_row ← row · 열린 뱅크의 다른 row면 access_err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RD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010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tCL 2 뒤 data_valid · rdata · 닫힘/다른 row면 access_err, 데이터 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WR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011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row가 맞으면 메모리에 쓰기 · 아니면 access_err, 쓰지 않음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PRE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100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bank_open ← 0 (뱅크 하나)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REF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101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모든 뱅크를 닫고 tRFC 12 동안 busy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5596128"/>
            <a:ext cx="53949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호스트: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req</a:t>
            </a:r>
            <a:r>
              <a:rPr sz="9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 valid/ready ·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req_write</a:t>
            </a:r>
            <a:r>
              <a:rPr sz="9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 1 = WR · 응답은 요청 순서로 하나씩, WR도 응답을 낸다 (데이터 0) ·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rsp_err</a:t>
            </a:r>
            <a:r>
              <a:rPr sz="9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는 v1에서 0 고정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691640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타이밍 (클럭) — 누가 지키는가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263640" y="2057400"/>
          <a:ext cx="5376672" cy="255117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731520"/>
                <a:gridCol w="457200"/>
                <a:gridCol w="1828800"/>
                <a:gridCol w="2359152"/>
              </a:tblGrid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파라미터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지키는 곳 (RTL)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tRCD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ACT → RD/WR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11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b_timer</a:t>
                      </a: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· ST_ACT_WAIT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tRP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PRE → ACT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11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b_timer</a:t>
                      </a: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· ST_PRE_WAIT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tRAS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ACT → PRE 최소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11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ras_rem</a:t>
                      </a: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→ want_pre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tRC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9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뱅크 ACT → ACT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11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rc_rem</a:t>
                      </a: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→ want_act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tWR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WR 회복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11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b_timer</a:t>
                      </a: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· ST_WR_WAIT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tCL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RD → data_valid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</a:t>
                      </a:r>
                      <a:r>
                        <a:rPr sz="911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rd_cnt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tRFC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12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REF busy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</a:t>
                      </a:r>
                      <a:r>
                        <a:rPr sz="911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rfc_cnt</a:t>
                      </a: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→ busy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tREFI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64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리프레시 주기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11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refi_cnt</a:t>
                      </a: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→ ref_due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6263640" y="4800600"/>
            <a:ext cx="5376672" cy="1051560"/>
          </a:xfrm>
          <a:prstGeom prst="rect">
            <a:avLst/>
          </a:prstGeom>
          <a:solidFill>
            <a:srgbClr val="FB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4855464"/>
            <a:ext cx="5157216" cy="9601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문서 ↔ RTL 차이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 spec §4의 '수락은 ST_IDLE에서만'과 §5 FSM 그림, scheduler-throughput.md 머리말은 단일 FSM을 'v1 single-outstanding'이라 부르는데, 이 덱의 v0에 해당한다. v1은 큐가 수락하고 뱅크마다 상태를 가진다.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ST_REF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ST_REF_WAIT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ST_ERROR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는 enum에만 있고 쓰이지 않는다 (REF는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ref_active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플래그). 이 덱의 숫자는 모두 v1 RTL을 다시 돌려 잰 값이다.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03  아키텍처 결정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아키텍처: 단일 FSM(v0) → 큐 + 뱅크 병렬 엔진(v1)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두 버전을 같은 TB · 같은 측정 스크립트로 돌려 비교 — v0는 0cfe062/64e73e0의 mem_ctrl, v1은 6049e5a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Mini DRAM Controller  ·  요청 큐 + 뱅크 병렬 스케줄러  ·  용현 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1512" y="64739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4 / 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91640"/>
          <a:ext cx="7040880" cy="398678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188720"/>
                <a:gridCol w="2514600"/>
                <a:gridCol w="333756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v0  단일 FSM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  큐 + 뱅크 엔진 ×4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BE7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수락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ST_IDLE에서 요청 1개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큐 빈 슬롯이 있으면 (깊이 4) · REF 대기 중엔 차단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state 1개 · 타이머 1개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뱅크마다 </a:t>
                      </a:r>
                      <a:r>
                        <a:rPr sz="1008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b_state</a:t>
                      </a:r>
                      <a:r>
                        <a:rPr sz="10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· </a:t>
                      </a:r>
                      <a:r>
                        <a:rPr sz="1008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b_timer</a:t>
                      </a:r>
                      <a:r>
                        <a:rPr sz="10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+ 열린 row 섀도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명령 발행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 상태를 나오는 클럭에 바로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뱅크 </a:t>
                      </a:r>
                      <a:r>
                        <a:rPr sz="1008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want_*</a:t>
                      </a:r>
                      <a:r>
                        <a:rPr sz="10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→ 중재기 PRE &gt; ACT &gt; WR &gt; RD, 클럭당 1개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 순서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하나씩이라 자연히 in-order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tag 16개 응답 버퍼 → </a:t>
                      </a:r>
                      <a:r>
                        <a:rPr sz="1008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tag_retire</a:t>
                      </a:r>
                      <a:r>
                        <a:rPr sz="10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순서로 반환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리프레시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IDLE에서 REF 우선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8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ref_due</a:t>
                      </a:r>
                      <a:r>
                        <a:rPr sz="10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→ 수락 차단 → 전 뱅크 IDLE · 큐 0이면 REF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4뱅크 버스트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35클럭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C8102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17클럭 (2.06×)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BE7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hit RD 지연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4클럭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6클럭 — 구조 비용 +2 (17쪽)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면적 · FF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1,208 µm² · 131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9,819 µm² · 1,072 (8.1×, 20쪽)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779008"/>
            <a:ext cx="70408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High Speed Link Lite의 MC는 큐 head만 발행하는 in-order 구조였다. 이 프로젝트는 그 다음 단계 — 뱅크 병렬 · tag 기반 응답 재정렬 · 리프레시 스케줄링 — 를 다룬다.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1691640"/>
            <a:ext cx="3822191" cy="1042415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691640"/>
            <a:ext cx="45720" cy="1042415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783080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Open-page 정책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075688"/>
            <a:ext cx="3547872" cy="6126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응답 뒤에도 row를 열어 둔다. 같은 row면 바로 RD/WR, 다른 row면 PRE → ACT. 닫히는 때는 conflict와 REF뿐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2825496"/>
            <a:ext cx="3822191" cy="1042415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18120" y="2825496"/>
            <a:ext cx="45720" cy="1042415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2916936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Oldest-tag dispatch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209544"/>
            <a:ext cx="3547872" cy="6126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큐에서 '대상 뱅크가 IDLE인 항목' 중 가장 오래된 tag를 보낸다.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q_tag − tag_retire</a:t>
            </a:r>
            <a:r>
              <a:rPr sz="9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로 랩어라운드에도 나이 비교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3959352"/>
            <a:ext cx="3822191" cy="1042415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3959352"/>
            <a:ext cx="45720" cy="1042415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4050791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Drain-then-REF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4343400"/>
            <a:ext cx="3547872" cy="6126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ref_due</a:t>
            </a:r>
            <a:r>
              <a:rPr sz="9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면 새 수락을 막고, 진행 중 뱅크와 큐가 다 비면 REF. 단순한 대신 REF 직전 열린 row를 모두 잃는다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5093208"/>
            <a:ext cx="3822191" cy="1042415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8120" y="5093208"/>
            <a:ext cx="45720" cy="1042415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5184648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섀도 open-row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5477256"/>
            <a:ext cx="3547872" cy="6126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컨트롤러가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bank_open</a:t>
            </a:r>
            <a:r>
              <a:rPr sz="9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bank_row</a:t>
            </a:r>
            <a:r>
              <a:rPr sz="9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와 tRAS/tRC 잔여를 직접 들고 판단. 모델의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page_hit</a:t>
            </a:r>
            <a:r>
              <a:rPr sz="9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 출력은 쓰지 않는다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04  블록 다이어그램 · 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Top level: host_if → mem_ctrl → dram_model, 단일 클럭 동기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rtl/mem_ctrl_top.sv의 인스턴스 · 포트 · 넷 이름 그대로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Mini DRAM Controller  ·  요청 큐 + 뱅크 병렬 스케줄러  ·  용현 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1512" y="64739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5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914400" cy="3611880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호스트</a:t>
            </a:r>
          </a:p>
          <a:p>
            <a:pPr algn="ctr">
              <a:lnSpc>
                <a:spcPct val="112000"/>
              </a:lnSpc>
              <a:spcBef>
                <a:spcPts val="400"/>
              </a:spcBef>
            </a:pP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(TB:</a:t>
            </a:r>
          </a:p>
          <a:p>
            <a:pPr algn="ctr">
              <a:lnSpc>
                <a:spcPct val="112000"/>
              </a:lnSpc>
            </a:pPr>
            <a:r>
              <a:rPr sz="85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tb_mem_ctrl)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8760" y="1600200"/>
            <a:ext cx="10131552" cy="4160520"/>
          </a:xfrm>
          <a:prstGeom prst="rect">
            <a:avLst/>
          </a:prstGeom>
          <a:solidFill>
            <a:srgbClr val="FFFFFF"/>
          </a:solidFill>
          <a:ln w="15875">
            <a:solidFill>
              <a:srgbClr val="57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8488" y="1645920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8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mem_ctrl_top</a:t>
            </a:r>
            <a:r>
              <a:rPr sz="10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05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clk</a:t>
            </a:r>
            <a:r>
              <a:rPr sz="10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단일 도메인 · </a:t>
            </a:r>
            <a:r>
              <a:rPr sz="1008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rst_n</a:t>
            </a:r>
            <a:r>
              <a:rPr sz="10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비동기 리셋 (세 인스턴스 공통)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2011680"/>
            <a:ext cx="11887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57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2066544"/>
            <a:ext cx="1042416" cy="17830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u_host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host_if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모든 신호 assign</a:t>
            </a:r>
          </a:p>
          <a:p>
            <a:pPr algn="l">
              <a:lnSpc>
                <a:spcPct val="108000"/>
              </a:lnSpc>
            </a:pP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clk</a:t>
            </a: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rst_n</a:t>
            </a: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미사용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(skid 자리만)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011680"/>
            <a:ext cx="2194560" cy="2743200"/>
          </a:xfrm>
          <a:prstGeom prst="rect">
            <a:avLst/>
          </a:prstGeom>
          <a:solidFill>
            <a:srgbClr val="FBE7EA"/>
          </a:solidFill>
          <a:ln w="158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2066544"/>
            <a:ext cx="2048255" cy="2651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u_ctrl</a:t>
            </a:r>
          </a:p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mem_ctrl  (6쪽)</a:t>
            </a:r>
          </a:p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요청 큐 ×4 · tag 16</a:t>
            </a:r>
          </a:p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dispatch · page 판정</a:t>
            </a:r>
          </a:p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뱅크 엔진 ×4</a:t>
            </a:r>
          </a:p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중재기 · 리프레시</a:t>
            </a:r>
          </a:p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응답 버퍼 16 × 32b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21240" y="2011680"/>
            <a:ext cx="1554480" cy="2743200"/>
          </a:xfrm>
          <a:prstGeom prst="rect">
            <a:avLst/>
          </a:prstGeom>
          <a:solidFill>
            <a:srgbClr val="F6F8FA"/>
          </a:solidFill>
          <a:ln w="12700">
            <a:solidFill>
              <a:srgbClr val="8C959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94392" y="2066544"/>
            <a:ext cx="1408176" cy="2651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u_dram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dram_model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TB용 동작 모델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4 × 256 × 16 × 32b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tCL 파이프 · tRFC busy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access_err 체크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(명령 간격은 안 봄)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80160" y="2286000"/>
            <a:ext cx="233172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25880" y="2112264"/>
            <a:ext cx="224028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req_valid · write · addr · wdata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280160" y="2651760"/>
            <a:ext cx="233172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25880" y="2478024"/>
            <a:ext cx="224028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req_ready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280160" y="3017520"/>
            <a:ext cx="233172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325880" y="2843784"/>
            <a:ext cx="224028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rsp_valid · rsp_rdata · rsp_err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80160" y="3383280"/>
            <a:ext cx="233172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325880" y="3209544"/>
            <a:ext cx="224028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rsp_ready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00600" y="2286000"/>
            <a:ext cx="146304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846320" y="2112264"/>
            <a:ext cx="137160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c_req_*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800600" y="2651760"/>
            <a:ext cx="146304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846320" y="2478024"/>
            <a:ext cx="137160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c_req_ready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800600" y="3017520"/>
            <a:ext cx="146304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846320" y="2843784"/>
            <a:ext cx="137160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c_rsp_*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800600" y="3383280"/>
            <a:ext cx="146304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846320" y="3209544"/>
            <a:ext cx="137160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c_rsp_ready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458200" y="2240280"/>
            <a:ext cx="146304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503920" y="2066544"/>
            <a:ext cx="141732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d_cmd · d_bank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458200" y="2560320"/>
            <a:ext cx="146304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03920" y="2386584"/>
            <a:ext cx="141732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d_row · d_col · d_wdata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8458200" y="2880360"/>
            <a:ext cx="146304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503920" y="2706624"/>
            <a:ext cx="141732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d_busy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8458200" y="3200400"/>
            <a:ext cx="146304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503920" y="3026664"/>
            <a:ext cx="141732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d_data_valid · d_rdata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8458200" y="3520440"/>
            <a:ext cx="146304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503920" y="3346704"/>
            <a:ext cx="141732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d_page_hit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363931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768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unused_page_hit</a:t>
            </a:r>
            <a:r>
              <a:rPr sz="8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 플롭 · top 출력</a:t>
            </a:r>
          </a:p>
        </p:txBody>
      </p:sp>
      <p:sp>
        <p:nvSpPr>
          <p:cNvPr id="44" name="Freeform 43"/>
          <p:cNvSpPr/>
          <p:nvPr/>
        </p:nvSpPr>
        <p:spPr>
          <a:xfrm>
            <a:off x="1280160" y="4754880"/>
            <a:ext cx="9418320" cy="548640"/>
          </a:xfrm>
          <a:custGeom>
            <a:avLst/>
            <a:gdLst/>
            <a:ahLst/>
            <a:cxnLst/>
            <a:rect l="l" t="t" r="r" b="b"/>
            <a:pathLst>
              <a:path w="9418320" h="548640">
                <a:moveTo>
                  <a:pt x="9418320" y="0"/>
                </a:moveTo>
                <a:lnTo>
                  <a:pt x="9418320" y="548640"/>
                </a:lnTo>
                <a:lnTo>
                  <a:pt x="0" y="548640"/>
                </a:lnTo>
              </a:path>
            </a:pathLst>
          </a:custGeom>
          <a:noFill/>
          <a:ln w="12700">
            <a:solidFill>
              <a:srgbClr val="57606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0" y="5120640"/>
            <a:ext cx="685800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dram_access_err · dram_bank_open[3:0] · dram_page_hit  — top 출력 = 모델 관측용 assign 3줄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846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850" b="0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합성 대상은 이 블록만 (20쪽)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852160"/>
            <a:ext cx="11091672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범례</a:t>
            </a: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req_addr[13:0]</a:t>
            </a: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 = {bank, row, col}  · 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req_wdata</a:t>
            </a: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rsp_rdata</a:t>
            </a: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 32b  · 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d_cmd</a:t>
            </a: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 = dram_cmd_e 3b  · 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c_*</a:t>
            </a: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는 호스트 쪽 신호와 1:1 (host_if L39–48)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hit 판정은 컨트롤러의 섀도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bank_open</a:t>
            </a: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 /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bank_row</a:t>
            </a: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가 한다 — 모델의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page_hit</a:t>
            </a: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은 관측용. 실선 = RTL, 점선 = TB 모델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04  블록 다이어그램 · mem_ctrl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mem_ctrl: 큐 → dispatch → 뱅크 엔진 ×4 → 중재기 → 명령 1개/클럭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always_comb 하나가 want_* · ref_issue · req_ready · disp_* · win_*을 만들고, always_ff 하나가 모든 상태를 갱신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Mini DRAM Controller  ·  요청 큐 + 뱅크 병렬 스케줄러  ·  용현 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1512" y="64739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6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45920"/>
            <a:ext cx="10213848" cy="4206240"/>
          </a:xfrm>
          <a:prstGeom prst="rect">
            <a:avLst/>
          </a:prstGeom>
          <a:solidFill>
            <a:srgbClr val="FFFFFF"/>
          </a:solidFill>
          <a:ln w="15875">
            <a:solidFill>
              <a:srgbClr val="57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69164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8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u_ctrl</a:t>
            </a:r>
            <a:r>
              <a:rPr sz="10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· mem_ctrl  (rtl/mem_ctrl.sv 355줄)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03120"/>
            <a:ext cx="1463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7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157984"/>
            <a:ext cx="1316736" cy="160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요청 큐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QUEUE_DEPTH 4</a:t>
            </a:r>
          </a:p>
          <a:p>
            <a:pPr algn="l">
              <a:lnSpc>
                <a:spcPct val="108000"/>
              </a:lnSpc>
            </a:pP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q_valid</a:t>
            </a: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빈 슬롯</a:t>
            </a:r>
          </a:p>
          <a:p>
            <a:pPr algn="l">
              <a:lnSpc>
                <a:spcPct val="108000"/>
              </a:lnSpc>
            </a:pP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q_addr</a:t>
            </a: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q_wdata</a:t>
            </a:r>
          </a:p>
          <a:p>
            <a:pPr algn="l">
              <a:lnSpc>
                <a:spcPct val="108000"/>
              </a:lnSpc>
            </a:pP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q_write</a:t>
            </a: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q_tag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15568" y="3401568"/>
            <a:ext cx="274320" cy="256032"/>
          </a:xfrm>
          <a:prstGeom prst="rect">
            <a:avLst/>
          </a:prstGeom>
          <a:solidFill>
            <a:srgbClr val="FBE7E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75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35607" y="3401568"/>
            <a:ext cx="274320" cy="256032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75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55648" y="3401568"/>
            <a:ext cx="274320" cy="256032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75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75687" y="3401568"/>
            <a:ext cx="274320" cy="256032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75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40" y="2103120"/>
            <a:ext cx="1600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7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36392" y="2157984"/>
            <a:ext cx="1453896" cy="160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dispatch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L116–130 · L249–265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q_valid &amp; 뱅크 IDLE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oldest: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q_tag − tag_retire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page 판정 → RD/WR · PRE · 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67528" y="1993391"/>
            <a:ext cx="16916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12664" y="2048255"/>
            <a:ext cx="16916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57800" y="2103120"/>
            <a:ext cx="1691640" cy="1691640"/>
          </a:xfrm>
          <a:prstGeom prst="rect">
            <a:avLst/>
          </a:prstGeom>
          <a:solidFill>
            <a:srgbClr val="FBE7EA"/>
          </a:solidFill>
          <a:ln w="127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30952" y="2157984"/>
            <a:ext cx="1545336" cy="160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뱅크 엔진 [0:3]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뱅크마다 1벌</a:t>
            </a:r>
          </a:p>
          <a:p>
            <a:pPr algn="l">
              <a:lnSpc>
                <a:spcPct val="108000"/>
              </a:lnSpc>
            </a:pP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b_state</a:t>
            </a: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b_timer[7:0]</a:t>
            </a:r>
          </a:p>
          <a:p>
            <a:pPr algn="l">
              <a:lnSpc>
                <a:spcPct val="108000"/>
              </a:lnSpc>
            </a:pP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b_addr</a:t>
            </a: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b_wdata</a:t>
            </a:r>
          </a:p>
          <a:p>
            <a:pPr algn="l">
              <a:lnSpc>
                <a:spcPct val="108000"/>
              </a:lnSpc>
            </a:pP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b_write</a:t>
            </a: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b_tag</a:t>
            </a:r>
          </a:p>
          <a:p>
            <a:pPr algn="l">
              <a:lnSpc>
                <a:spcPct val="108000"/>
              </a:lnSpc>
            </a:pP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b_need_act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3800" y="2103120"/>
            <a:ext cx="1463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7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2157984"/>
            <a:ext cx="1316736" cy="160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중재기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L132–160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PRE &gt; ACT &gt; WR &gt; RD</a:t>
            </a:r>
          </a:p>
          <a:p>
            <a:pPr algn="l">
              <a:lnSpc>
                <a:spcPct val="108000"/>
              </a:lnSpc>
            </a:pP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rr_ptr</a:t>
            </a: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부터 회전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RD는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!rd_inflight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busy · REF 중 정지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2103120"/>
            <a:ext cx="1371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7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74352" y="2157984"/>
            <a:ext cx="1225296" cy="160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명령 출력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L162–175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REF if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ref_issue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else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win_cmd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row · col · wdata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←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b_*[win_bank]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468880" y="2606040"/>
            <a:ext cx="59436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496312" y="2432304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q_*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63440" y="2606040"/>
            <a:ext cx="59436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690872" y="2432304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disp_*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49440" y="2606040"/>
            <a:ext cx="59436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976872" y="2432304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want_*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006840" y="2606040"/>
            <a:ext cx="59436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034272" y="2432304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win_*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6949440" y="3063240"/>
            <a:ext cx="59436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976872" y="2889504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win_*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20040" y="2514600"/>
            <a:ext cx="68580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20040" y="2340864"/>
            <a:ext cx="64008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req_*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320040" y="2880360"/>
            <a:ext cx="68580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01752" y="2706624"/>
            <a:ext cx="68580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req_ready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972800" y="2606040"/>
            <a:ext cx="27432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1247120" y="2103120"/>
            <a:ext cx="393192" cy="3566160"/>
          </a:xfrm>
          <a:prstGeom prst="rect">
            <a:avLst/>
          </a:prstGeom>
          <a:solidFill>
            <a:srgbClr val="F6F8FA"/>
          </a:solidFill>
          <a:ln w="9525">
            <a:solidFill>
              <a:srgbClr val="8C959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 vert="vert270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u_dram · dram_model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63240" y="4251960"/>
            <a:ext cx="1600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57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36392" y="4306824"/>
            <a:ext cx="1453896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섀도 open-row</a:t>
            </a:r>
          </a:p>
          <a:p>
            <a:pPr algn="l">
              <a:lnSpc>
                <a:spcPct val="108000"/>
              </a:lnSpc>
            </a:pP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bank_open</a:t>
            </a: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bank_row</a:t>
            </a:r>
          </a:p>
          <a:p>
            <a:pPr algn="l">
              <a:lnSpc>
                <a:spcPct val="108000"/>
              </a:lnSpc>
            </a:pP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ras_rem</a:t>
            </a: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rc_rem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57800" y="4251960"/>
            <a:ext cx="1691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57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30952" y="4306824"/>
            <a:ext cx="1545336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응답 버퍼</a:t>
            </a:r>
          </a:p>
          <a:p>
            <a:pPr algn="l">
              <a:lnSpc>
                <a:spcPct val="108000"/>
              </a:lnSpc>
            </a:pP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rsp_done[16]</a:t>
            </a: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rsp_data[16]</a:t>
            </a:r>
          </a:p>
          <a:p>
            <a:pPr algn="l">
              <a:lnSpc>
                <a:spcPct val="108000"/>
              </a:lnSpc>
            </a:pP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rsp_valid = done[retire]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43800" y="4251960"/>
            <a:ext cx="1463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57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16952" y="4306824"/>
            <a:ext cx="1316736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리프레시</a:t>
            </a:r>
          </a:p>
          <a:p>
            <a:pPr algn="l">
              <a:lnSpc>
                <a:spcPct val="108000"/>
              </a:lnSpc>
            </a:pP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refi_cnt</a:t>
            </a: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64 → 0</a:t>
            </a:r>
          </a:p>
          <a:p>
            <a:pPr algn="l">
              <a:lnSpc>
                <a:spcPct val="108000"/>
              </a:lnSpc>
            </a:pP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ref_active</a:t>
            </a: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ref_issue</a:t>
            </a:r>
          </a:p>
        </p:txBody>
      </p:sp>
      <p:cxnSp>
        <p:nvCxnSpPr>
          <p:cNvPr id="48" name="Connector 47"/>
          <p:cNvCxnSpPr/>
          <p:nvPr/>
        </p:nvCxnSpPr>
        <p:spPr>
          <a:xfrm flipV="1">
            <a:off x="3840480" y="3794760"/>
            <a:ext cx="0" cy="45720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072384" y="3840480"/>
            <a:ext cx="73152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page 판정</a:t>
            </a:r>
          </a:p>
        </p:txBody>
      </p:sp>
      <p:sp>
        <p:nvSpPr>
          <p:cNvPr id="50" name="Freeform 49"/>
          <p:cNvSpPr/>
          <p:nvPr/>
        </p:nvSpPr>
        <p:spPr>
          <a:xfrm>
            <a:off x="4663440" y="3794760"/>
            <a:ext cx="914400" cy="822960"/>
          </a:xfrm>
          <a:custGeom>
            <a:avLst/>
            <a:gdLst/>
            <a:ahLst/>
            <a:cxnLst/>
            <a:rect l="l" t="t" r="r" b="b"/>
            <a:pathLst>
              <a:path w="914400" h="822960">
                <a:moveTo>
                  <a:pt x="0" y="822960"/>
                </a:moveTo>
                <a:lnTo>
                  <a:pt x="320040" y="822960"/>
                </a:lnTo>
                <a:lnTo>
                  <a:pt x="320040" y="246888"/>
                </a:lnTo>
                <a:lnTo>
                  <a:pt x="914400" y="246888"/>
                </a:lnTo>
                <a:lnTo>
                  <a:pt x="914400" y="0"/>
                </a:lnTo>
              </a:path>
            </a:pathLst>
          </a:custGeom>
          <a:noFill/>
          <a:ln w="12700">
            <a:solidFill>
              <a:srgbClr val="57606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0" y="3858768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tRAS · tRC 잔여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309360" y="3794760"/>
            <a:ext cx="0" cy="45720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364224" y="3877056"/>
            <a:ext cx="118872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WR 완료 → done</a:t>
            </a:r>
          </a:p>
        </p:txBody>
      </p:sp>
      <p:cxnSp>
        <p:nvCxnSpPr>
          <p:cNvPr id="54" name="Connector 53"/>
          <p:cNvCxnSpPr/>
          <p:nvPr/>
        </p:nvCxnSpPr>
        <p:spPr>
          <a:xfrm flipV="1">
            <a:off x="8275320" y="3794760"/>
            <a:ext cx="0" cy="45720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330183" y="3877056"/>
            <a:ext cx="118872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정지 · REF 요청</a:t>
            </a:r>
          </a:p>
        </p:txBody>
      </p:sp>
      <p:sp>
        <p:nvSpPr>
          <p:cNvPr id="56" name="Freeform 55"/>
          <p:cNvSpPr/>
          <p:nvPr/>
        </p:nvSpPr>
        <p:spPr>
          <a:xfrm>
            <a:off x="9006840" y="3794760"/>
            <a:ext cx="1280160" cy="822960"/>
          </a:xfrm>
          <a:custGeom>
            <a:avLst/>
            <a:gdLst/>
            <a:ahLst/>
            <a:cxnLst/>
            <a:rect l="l" t="t" r="r" b="b"/>
            <a:pathLst>
              <a:path w="1280160" h="822960">
                <a:moveTo>
                  <a:pt x="0" y="822960"/>
                </a:moveTo>
                <a:lnTo>
                  <a:pt x="1280160" y="822960"/>
                </a:lnTo>
                <a:lnTo>
                  <a:pt x="1280160" y="0"/>
                </a:lnTo>
              </a:path>
            </a:pathLst>
          </a:custGeom>
          <a:noFill/>
          <a:ln w="12700">
            <a:solidFill>
              <a:srgbClr val="57606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0" y="4434840"/>
            <a:ext cx="109728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ref_issue → REF</a:t>
            </a:r>
          </a:p>
        </p:txBody>
      </p:sp>
      <p:sp>
        <p:nvSpPr>
          <p:cNvPr id="58" name="Freeform 57"/>
          <p:cNvSpPr/>
          <p:nvPr/>
        </p:nvSpPr>
        <p:spPr>
          <a:xfrm>
            <a:off x="6583680" y="5056632"/>
            <a:ext cx="4663440" cy="292608"/>
          </a:xfrm>
          <a:custGeom>
            <a:avLst/>
            <a:gdLst/>
            <a:ahLst/>
            <a:cxnLst/>
            <a:rect l="l" t="t" r="r" b="b"/>
            <a:pathLst>
              <a:path w="4663440" h="292608">
                <a:moveTo>
                  <a:pt x="4663440" y="292608"/>
                </a:moveTo>
                <a:lnTo>
                  <a:pt x="0" y="292608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57606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0" y="5175504"/>
            <a:ext cx="384048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dram_data_valid · dram_rdata → rsp_data[b_tag[rd_bank_q]]</a:t>
            </a:r>
          </a:p>
        </p:txBody>
      </p:sp>
      <p:sp>
        <p:nvSpPr>
          <p:cNvPr id="60" name="Freeform 59"/>
          <p:cNvSpPr/>
          <p:nvPr/>
        </p:nvSpPr>
        <p:spPr>
          <a:xfrm>
            <a:off x="320040" y="5056632"/>
            <a:ext cx="5440680" cy="539496"/>
          </a:xfrm>
          <a:custGeom>
            <a:avLst/>
            <a:gdLst/>
            <a:ahLst/>
            <a:cxnLst/>
            <a:rect l="l" t="t" r="r" b="b"/>
            <a:pathLst>
              <a:path w="5440680" h="539496">
                <a:moveTo>
                  <a:pt x="5440680" y="0"/>
                </a:moveTo>
                <a:lnTo>
                  <a:pt x="5440680" y="539496"/>
                </a:lnTo>
                <a:lnTo>
                  <a:pt x="0" y="539496"/>
                </a:lnTo>
              </a:path>
            </a:pathLst>
          </a:custGeom>
          <a:noFill/>
          <a:ln w="12700">
            <a:solidFill>
              <a:srgbClr val="57606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5840" y="5422392"/>
            <a:ext cx="466344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rsp_valid · rsp_rdata  (tag_retire 순서)  ·  rsp_ready면 retire + 1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925312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req_ready = free_found &amp;&amp; !ref_due &amp;&amp; !ref_active</a:t>
            </a: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 (L113) — 응답 버퍼 여유는 보지 않는다 → 18쪽 버그. 임계 경로는 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tag_retire</a:t>
            </a: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 → dispatch 나이 비교 → 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b_state</a:t>
            </a: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 (20쪽)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04  블록 다이어그램 · 뱅크 엔진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뱅크 엔진: 상태를 지나는 세 가지 경로와 실제 지연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열 = b_state, 행 = dispatch 때의 page 판정 · 오른쪽 숫자는 이번 재실행에서 잰 수락 → 응답 클럭 (v0 같은 TB)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Mini DRAM Controller  ·  요청 큐 + 뱅크 병렬 스케줄러  ·  용현 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1512" y="64739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7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6916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850" b="0" i="0">
                <a:solidFill>
                  <a:srgbClr val="8C959F"/>
                </a:solidFill>
                <a:latin typeface="Consolas"/>
                <a:ea typeface="Malgun Gothic"/>
                <a:cs typeface="Malgun Gothic"/>
              </a:rPr>
              <a:t>IDLE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6916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850" b="0" i="0">
                <a:solidFill>
                  <a:srgbClr val="8C959F"/>
                </a:solidFill>
                <a:latin typeface="Consolas"/>
                <a:ea typeface="Malgun Gothic"/>
                <a:cs typeface="Malgun Gothic"/>
              </a:rPr>
              <a:t>PRE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8" y="16916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850" b="0" i="0">
                <a:solidFill>
                  <a:srgbClr val="8C959F"/>
                </a:solidFill>
                <a:latin typeface="Consolas"/>
                <a:ea typeface="Malgun Gothic"/>
                <a:cs typeface="Malgun Gothic"/>
              </a:rPr>
              <a:t>PRE_WAIT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1648" y="16916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850" b="0" i="0">
                <a:solidFill>
                  <a:srgbClr val="8C959F"/>
                </a:solidFill>
                <a:latin typeface="Consolas"/>
                <a:ea typeface="Malgun Gothic"/>
                <a:cs typeface="Malgun Gothic"/>
              </a:rPr>
              <a:t>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16916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850" b="0" i="0">
                <a:solidFill>
                  <a:srgbClr val="8C959F"/>
                </a:solidFill>
                <a:latin typeface="Consolas"/>
                <a:ea typeface="Malgun Gothic"/>
                <a:cs typeface="Malgun Gothic"/>
              </a:rPr>
              <a:t>ACT_WAIT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87568" y="16916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850" b="0" i="0">
                <a:solidFill>
                  <a:srgbClr val="8C959F"/>
                </a:solidFill>
                <a:latin typeface="Consolas"/>
                <a:ea typeface="Malgun Gothic"/>
                <a:cs typeface="Malgun Gothic"/>
              </a:rPr>
              <a:t>RD / WR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16916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850" b="0" i="0">
                <a:solidFill>
                  <a:srgbClr val="8C959F"/>
                </a:solidFill>
                <a:latin typeface="Consolas"/>
                <a:ea typeface="Malgun Gothic"/>
                <a:cs typeface="Malgun Gothic"/>
              </a:rPr>
              <a:t>*_WAIT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16916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850" b="0" i="0">
                <a:solidFill>
                  <a:srgbClr val="8C959F"/>
                </a:solidFill>
                <a:latin typeface="Consolas"/>
                <a:ea typeface="Malgun Gothic"/>
                <a:cs typeface="Malgun Gothic"/>
              </a:rPr>
              <a:t>IDLE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72768" y="1938528"/>
            <a:ext cx="6492240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2029968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hit 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24028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6클럭 · v0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72768" y="2011680"/>
            <a:ext cx="731520" cy="384048"/>
          </a:xfrm>
          <a:prstGeom prst="roundRect">
            <a:avLst>
              <a:gd name="adj" fmla="val 1904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IDLE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87568" y="2011680"/>
            <a:ext cx="731520" cy="384048"/>
          </a:xfrm>
          <a:prstGeom prst="roundRect">
            <a:avLst>
              <a:gd name="adj" fmla="val 19047"/>
            </a:avLst>
          </a:prstGeom>
          <a:solidFill>
            <a:srgbClr val="FBE7EA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80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04288" y="2203704"/>
            <a:ext cx="3383280" cy="0"/>
          </a:xfrm>
          <a:prstGeom prst="line">
            <a:avLst/>
          </a:prstGeom>
          <a:ln w="12700">
            <a:solidFill>
              <a:srgbClr val="57606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510528" y="2011680"/>
            <a:ext cx="731520" cy="384048"/>
          </a:xfrm>
          <a:prstGeom prst="roundRect">
            <a:avLst>
              <a:gd name="adj" fmla="val 1904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RD_WAIT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19088" y="2203704"/>
            <a:ext cx="9144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33488" y="2011680"/>
            <a:ext cx="731520" cy="384048"/>
          </a:xfrm>
          <a:prstGeom prst="roundRect">
            <a:avLst>
              <a:gd name="adj" fmla="val 1904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IDLE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42048" y="2203704"/>
            <a:ext cx="9144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487168" y="1993392"/>
            <a:ext cx="237744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dispatch: 같은 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33472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closed WR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4378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9–12클럭 · v0 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72768" y="2615184"/>
            <a:ext cx="731520" cy="384048"/>
          </a:xfrm>
          <a:prstGeom prst="roundRect">
            <a:avLst>
              <a:gd name="adj" fmla="val 1904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IDLE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41648" y="2615184"/>
            <a:ext cx="731520" cy="384048"/>
          </a:xfrm>
          <a:prstGeom prst="roundRect">
            <a:avLst>
              <a:gd name="adj" fmla="val 19047"/>
            </a:avLst>
          </a:prstGeom>
          <a:solidFill>
            <a:srgbClr val="FBE7EA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80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ACT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304288" y="2807208"/>
            <a:ext cx="1737360" cy="0"/>
          </a:xfrm>
          <a:prstGeom prst="line">
            <a:avLst/>
          </a:prstGeom>
          <a:ln w="12700">
            <a:solidFill>
              <a:srgbClr val="57606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864608" y="2615184"/>
            <a:ext cx="731520" cy="384048"/>
          </a:xfrm>
          <a:prstGeom prst="roundRect">
            <a:avLst>
              <a:gd name="adj" fmla="val 1904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ACT_WAIT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773168" y="2807208"/>
            <a:ext cx="9144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687568" y="2615184"/>
            <a:ext cx="731520" cy="384048"/>
          </a:xfrm>
          <a:prstGeom prst="roundRect">
            <a:avLst>
              <a:gd name="adj" fmla="val 19047"/>
            </a:avLst>
          </a:prstGeom>
          <a:solidFill>
            <a:srgbClr val="FBE7EA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80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WR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596128" y="2807208"/>
            <a:ext cx="9144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510528" y="2615184"/>
            <a:ext cx="731520" cy="384048"/>
          </a:xfrm>
          <a:prstGeom prst="roundRect">
            <a:avLst>
              <a:gd name="adj" fmla="val 1904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WR_WAIT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19088" y="2807208"/>
            <a:ext cx="9144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333488" y="2615184"/>
            <a:ext cx="731520" cy="384048"/>
          </a:xfrm>
          <a:prstGeom prst="roundRect">
            <a:avLst>
              <a:gd name="adj" fmla="val 1904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IDLE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242048" y="2807208"/>
            <a:ext cx="9144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487168" y="2596896"/>
            <a:ext cx="237744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dispatch: 닫힌 뱅크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23697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conflict 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44728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14클럭 · v0 11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72768" y="3218688"/>
            <a:ext cx="731520" cy="384048"/>
          </a:xfrm>
          <a:prstGeom prst="roundRect">
            <a:avLst>
              <a:gd name="adj" fmla="val 1904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IDLE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95728" y="3218688"/>
            <a:ext cx="731520" cy="384048"/>
          </a:xfrm>
          <a:prstGeom prst="roundRect">
            <a:avLst>
              <a:gd name="adj" fmla="val 19047"/>
            </a:avLst>
          </a:prstGeom>
          <a:solidFill>
            <a:srgbClr val="FBE7EA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80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PRE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304288" y="3410712"/>
            <a:ext cx="9144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3218688" y="3218688"/>
            <a:ext cx="731520" cy="384048"/>
          </a:xfrm>
          <a:prstGeom prst="roundRect">
            <a:avLst>
              <a:gd name="adj" fmla="val 1904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PRE_WAIT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127248" y="3410712"/>
            <a:ext cx="9144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4041648" y="3218688"/>
            <a:ext cx="731520" cy="384048"/>
          </a:xfrm>
          <a:prstGeom prst="roundRect">
            <a:avLst>
              <a:gd name="adj" fmla="val 19047"/>
            </a:avLst>
          </a:prstGeom>
          <a:solidFill>
            <a:srgbClr val="FBE7EA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80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ACT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950208" y="3410712"/>
            <a:ext cx="9144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4864608" y="3218688"/>
            <a:ext cx="731520" cy="384048"/>
          </a:xfrm>
          <a:prstGeom prst="roundRect">
            <a:avLst>
              <a:gd name="adj" fmla="val 1904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ACT_WAIT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773168" y="3410712"/>
            <a:ext cx="9144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5687568" y="3218688"/>
            <a:ext cx="731520" cy="384048"/>
          </a:xfrm>
          <a:prstGeom prst="roundRect">
            <a:avLst>
              <a:gd name="adj" fmla="val 19047"/>
            </a:avLst>
          </a:prstGeom>
          <a:solidFill>
            <a:srgbClr val="FBE7EA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80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RD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596128" y="3410712"/>
            <a:ext cx="9144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6510528" y="3218688"/>
            <a:ext cx="731520" cy="384048"/>
          </a:xfrm>
          <a:prstGeom prst="roundRect">
            <a:avLst>
              <a:gd name="adj" fmla="val 1904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RD_WAIT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419088" y="3410712"/>
            <a:ext cx="9144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7333488" y="3218688"/>
            <a:ext cx="731520" cy="384048"/>
          </a:xfrm>
          <a:prstGeom prst="roundRect">
            <a:avLst>
              <a:gd name="adj" fmla="val 1904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IDLE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242048" y="3410712"/>
            <a:ext cx="9144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48640" y="384048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굵은 상자 = 중재기에 명령을 요청하는 상태 (</a:t>
            </a:r>
            <a:r>
              <a:rPr sz="816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want_*</a:t>
            </a:r>
            <a:r>
              <a:rPr sz="85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) · 점선 = 건너뛴 상태</a:t>
            </a: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548640" y="4114800"/>
          <a:ext cx="7680960" cy="208483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417320"/>
                <a:gridCol w="3154680"/>
                <a:gridCol w="310896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전이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동작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PRE → PRE_WAIT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16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want_pre</a:t>
                      </a:r>
                      <a:r>
                        <a:rPr sz="8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= </a:t>
                      </a:r>
                      <a:r>
                        <a:rPr sz="816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ras_rem == 0</a:t>
                      </a:r>
                      <a:r>
                        <a:rPr sz="8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· 중재 승리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PRE 발행 · </a:t>
                      </a:r>
                      <a:r>
                        <a:rPr sz="816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b_timer ← tRP−1</a:t>
                      </a:r>
                      <a:r>
                        <a:rPr sz="8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· bank_open ← 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PRE_WAIT → ACT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16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b_timer == 0</a:t>
                      </a:r>
                      <a:r>
                        <a:rPr sz="8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&amp; </a:t>
                      </a:r>
                      <a:r>
                        <a:rPr sz="816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b_need_act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(need_act = 0이면 IDLE — TB에서 미실행)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ACT → ACT_WAIT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16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want_act</a:t>
                      </a:r>
                      <a:r>
                        <a:rPr sz="8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= </a:t>
                      </a:r>
                      <a:r>
                        <a:rPr sz="816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rc_rem == 0</a:t>
                      </a:r>
                      <a:r>
                        <a:rPr sz="8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· 중재 승리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ACT 발행 · </a:t>
                      </a:r>
                      <a:r>
                        <a:rPr sz="816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b_timer ← tRCD−1</a:t>
                      </a:r>
                      <a:r>
                        <a:rPr sz="8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· tRAS/tRC 장전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ACT_WAIT → RD/WR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16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b_timer == 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상태만 바뀜 → 다음 클럭 중재 (17쪽 +1)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RD → RD_WAIT → IDLE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중재 승리 &amp; </a:t>
                      </a:r>
                      <a:r>
                        <a:rPr sz="816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!rd_inflight</a:t>
                      </a:r>
                      <a:r>
                        <a:rPr sz="8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→ </a:t>
                      </a:r>
                      <a:r>
                        <a:rPr sz="816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dram_data_valid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16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rsp_data[b_tag] ← rdata</a:t>
                      </a:r>
                      <a:r>
                        <a:rPr sz="8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· rd_inflight ← 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WR → WR_WAIT → IDLE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중재 승리 → </a:t>
                      </a:r>
                      <a:r>
                        <a:rPr sz="816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b_timer == 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16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b_timer ← tWR−1</a:t>
                      </a:r>
                      <a:r>
                        <a:rPr sz="8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→ </a:t>
                      </a:r>
                      <a:r>
                        <a:rPr sz="816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rsp_done[b_tag] ← 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0" name="Rectangle 59"/>
          <p:cNvSpPr/>
          <p:nvPr/>
        </p:nvSpPr>
        <p:spPr>
          <a:xfrm>
            <a:off x="8549640" y="1691640"/>
            <a:ext cx="3090672" cy="2514600"/>
          </a:xfrm>
          <a:prstGeom prst="rect">
            <a:avLst/>
          </a:prstGeom>
          <a:solidFill>
            <a:srgbClr val="F6F8FA"/>
          </a:solidFill>
          <a:ln w="12700">
            <a:solidFill>
              <a:srgbClr val="8C959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22792" y="1746504"/>
            <a:ext cx="2944368" cy="2423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u_dram · dram_model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TB용 동작 모델 (rtl/dram_model.sv)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모델 쪽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bank_open</a:t>
            </a: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bank_row</a:t>
            </a: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×4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RD: tCL 2 파이프 →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data_valid</a:t>
            </a: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rdata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REF: 전 뱅크 닫음, tRFC 12 동안 busy</a:t>
            </a:r>
          </a:p>
          <a:p>
            <a:pPr algn="l">
              <a:lnSpc>
                <a:spcPct val="108000"/>
              </a:lnSpc>
            </a:pP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access_err</a:t>
            </a: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: 열린 뱅크에 다른 row ACT (L110), 닫힌/다른 row RD · WR (L122 · L132)</a:t>
            </a:r>
          </a:p>
          <a:p>
            <a:pPr algn="l">
              <a:lnSpc>
                <a:spcPct val="108000"/>
              </a:lnSpc>
            </a:pPr>
            <a:r>
              <a:rPr sz="85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명령 간격(tRCD 등)은 검사하지 않음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49640" y="4343400"/>
            <a:ext cx="3090672" cy="1965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64592" indent="-164592">
              <a:lnSpc>
                <a:spcPct val="108000"/>
              </a:lnSpc>
              <a:spcAft>
                <a:spcPts val="400"/>
              </a:spcAft>
              <a:buClr>
                <a:srgbClr val="57606A"/>
              </a:buClr>
              <a:buSzPct val="100000"/>
              <a:buFont typeface="Arial"/>
              <a:buChar char="•"/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엔진 4개가 timer · want를 각자 계산하고 명령 버스 하나만 공유 → 15쪽에서 8클럭 연속 발행</a:t>
            </a:r>
          </a:p>
          <a:p>
            <a:pPr algn="l" marL="164592" indent="-164592">
              <a:lnSpc>
                <a:spcPct val="108000"/>
              </a:lnSpc>
              <a:spcAft>
                <a:spcPts val="400"/>
              </a:spcAft>
              <a:buClr>
                <a:srgbClr val="57606A"/>
              </a:buClr>
              <a:buSzPct val="100000"/>
              <a:buFont typeface="Arial"/>
              <a:buChar char="•"/>
            </a:pP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ST_REF</a:t>
            </a: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ST_REF_WAIT</a:t>
            </a: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ST_ERROR</a:t>
            </a: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는 enum에만 있음</a:t>
            </a:r>
          </a:p>
          <a:p>
            <a:pPr algn="l" marL="164592" indent="-164592">
              <a:lnSpc>
                <a:spcPct val="108000"/>
              </a:lnSpc>
              <a:spcAft>
                <a:spcPts val="400"/>
              </a:spcAft>
              <a:buClr>
                <a:srgbClr val="57606A"/>
              </a:buClr>
              <a:buSzPct val="100000"/>
              <a:buFont typeface="Arial"/>
              <a:buChar char="•"/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hit WR 경로 (dispatch → ST_WR, L259)는 TB에서 한 번도 지나가지 않음 (13쪽)</a:t>
            </a:r>
          </a:p>
          <a:p>
            <a:pPr algn="l" marL="164592" indent="-164592">
              <a:lnSpc>
                <a:spcPct val="108000"/>
              </a:lnSpc>
              <a:spcAft>
                <a:spcPts val="400"/>
              </a:spcAft>
              <a:buClr>
                <a:srgbClr val="57606A"/>
              </a:buClr>
              <a:buSzPct val="100000"/>
              <a:buFont typeface="Arial"/>
              <a:buChar char="•"/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모델이 타이밍을 안 보므로 VCD 체커를 따로 만들어 위반 0을 확인 (12 · 13쪽)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05  RTL 코드 ①  수락 · dispatch · page 정책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수락과 dispatch: 빈 슬롯이면 받고, IDLE 뱅크 중 가장 오래된 요청부터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req_ready는 큐와 리프레시만 본다 · 뱅크가 바쁜 요청은 큐에서 기다리고, 다른 뱅크 요청이 먼저 나갈 수 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Mini DRAM Controller  ·  요청 큐 + 뱅크 병렬 스케줄러  ·  용현 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1512" y="64739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8 / 22</a:t>
            </a:r>
          </a:p>
        </p:txBody>
      </p:sp>
      <p:pic>
        <p:nvPicPr>
          <p:cNvPr id="8" name="Picture 7" descr="code_disp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6348886" cy="3137228"/>
          </a:xfrm>
          <a:prstGeom prst="rect">
            <a:avLst/>
          </a:prstGeom>
        </p:spPr>
      </p:pic>
      <p:pic>
        <p:nvPicPr>
          <p:cNvPr id="9" name="Picture 8" descr="code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126" y="1645920"/>
            <a:ext cx="4514185" cy="2980925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48640" y="4929452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920308"/>
            <a:ext cx="2826971" cy="7173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req_ready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= 빈 슬롯 &amp; !ref_due &amp; !ref_active — 응답 버퍼 여유는 보지 않는다 (18쪽 버그의 출발점)</a:t>
            </a:r>
          </a:p>
        </p:txBody>
      </p:sp>
      <p:sp>
        <p:nvSpPr>
          <p:cNvPr id="12" name="Oval 11"/>
          <p:cNvSpPr/>
          <p:nvPr/>
        </p:nvSpPr>
        <p:spPr>
          <a:xfrm>
            <a:off x="3768803" y="4929452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0555" y="4920308"/>
            <a:ext cx="2826971" cy="7173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REF를 내는 중이거나 진행 중이면 dispatch 정지 — REF 앞에서 큐가 비도록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646838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5637694"/>
            <a:ext cx="2826971" cy="7173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대상 뱅크가 ST_IDLE인 항목만 후보 → 바쁜 뱅크 요청은 남고 다른 뱅크가 추월 (TB는 큐 점유 최대 1이라 미관찰)</a:t>
            </a:r>
          </a:p>
        </p:txBody>
      </p:sp>
      <p:sp>
        <p:nvSpPr>
          <p:cNvPr id="16" name="Oval 15"/>
          <p:cNvSpPr/>
          <p:nvPr/>
        </p:nvSpPr>
        <p:spPr>
          <a:xfrm>
            <a:off x="3768803" y="5646838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0555" y="5637694"/>
            <a:ext cx="2826971" cy="7173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q_tag − tag_retire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(4b 모듈러)로 나이 비교 → tag가 0으로 돌아가도 oldest 유지</a:t>
            </a:r>
          </a:p>
        </p:txBody>
      </p:sp>
      <p:sp>
        <p:nvSpPr>
          <p:cNvPr id="18" name="Oval 17"/>
          <p:cNvSpPr/>
          <p:nvPr/>
        </p:nvSpPr>
        <p:spPr>
          <a:xfrm>
            <a:off x="7126126" y="4929452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7878" y="4920308"/>
            <a:ext cx="1909620" cy="7173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dispatch 클럭에 슬롯을 비우고 주소 · 데이터 · tag를 뱅크 엔진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b_*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로 복사</a:t>
            </a:r>
          </a:p>
        </p:txBody>
      </p:sp>
      <p:sp>
        <p:nvSpPr>
          <p:cNvPr id="20" name="Oval 19"/>
          <p:cNvSpPr/>
          <p:nvPr/>
        </p:nvSpPr>
        <p:spPr>
          <a:xfrm>
            <a:off x="9428939" y="4929452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0691" y="4920308"/>
            <a:ext cx="1909620" cy="7173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섀도 bank_open / bank_row로 hit 판정 → 곧바로 ST_RD / ST_WR (ACT 생략)</a:t>
            </a:r>
          </a:p>
        </p:txBody>
      </p:sp>
      <p:sp>
        <p:nvSpPr>
          <p:cNvPr id="22" name="Oval 21"/>
          <p:cNvSpPr/>
          <p:nvPr/>
        </p:nvSpPr>
        <p:spPr>
          <a:xfrm>
            <a:off x="7126126" y="5646838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7878" y="5637694"/>
            <a:ext cx="1909620" cy="7173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열려 있지만 다른 row → ST_PRE +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b_need_act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→ PRE_WAIT 뒤 자동으로 ACT</a:t>
            </a:r>
          </a:p>
        </p:txBody>
      </p:sp>
      <p:sp>
        <p:nvSpPr>
          <p:cNvPr id="24" name="Oval 23"/>
          <p:cNvSpPr/>
          <p:nvPr/>
        </p:nvSpPr>
        <p:spPr>
          <a:xfrm>
            <a:off x="9428939" y="5646838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0691" y="5637694"/>
            <a:ext cx="1909620" cy="7173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닫힌 뱅크 → ST_ACT. 세 경로가 7쪽의 hit / conflict / closed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05  RTL 코드 ②  중재 · 발행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중재와 발행: 뱅크는 '원한다'만 말하고, 중재기가 클럭당 하나를 고른다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want_* (조합) → PRE &gt; ACT &gt; WR &gt; RD + rr_ptr 회전 → 발행 클럭에 타이머 preload와 섀도 갱신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Mini DRAM Controller  ·  요청 큐 + 뱅크 병렬 스케줄러  ·  용현 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1512" y="64739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9 / 22</a:t>
            </a:r>
          </a:p>
        </p:txBody>
      </p:sp>
      <p:pic>
        <p:nvPicPr>
          <p:cNvPr id="8" name="Picture 7" descr="code_ar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6356319" cy="3351818"/>
          </a:xfrm>
          <a:prstGeom prst="rect">
            <a:avLst/>
          </a:prstGeom>
        </p:spPr>
      </p:pic>
      <p:pic>
        <p:nvPicPr>
          <p:cNvPr id="9" name="Picture 8" descr="code_iss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559" y="1645920"/>
            <a:ext cx="4506752" cy="3000316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48640" y="5144042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5134898"/>
            <a:ext cx="2830687" cy="4067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want_pre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는 tRAS 잔여 0,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want_act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는 tRC 잔여 0일 때만 — 뱅크마다 자기 카운터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550769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5541625"/>
            <a:ext cx="2830687" cy="4067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DRAM busy이거나 REF 중이면 아무것도 발행하지 않음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957496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5948352"/>
            <a:ext cx="2830687" cy="4067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rr_ptr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부터 4뱅크를 검사 → 같은 종류끼리 회전 우선 (발행 후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rr_ptr ← win_bank + 1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6" name="Oval 15"/>
          <p:cNvSpPr/>
          <p:nvPr/>
        </p:nvSpPr>
        <p:spPr>
          <a:xfrm>
            <a:off x="3772519" y="5144042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4271" y="5134898"/>
            <a:ext cx="2830687" cy="4067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PRE 루프가 먼저, 이어 ACT · WR · RD 루프 — 행 명령을 먼저 내 다른 뱅크의 tRP/tRCD를 겹친다</a:t>
            </a:r>
          </a:p>
        </p:txBody>
      </p:sp>
      <p:sp>
        <p:nvSpPr>
          <p:cNvPr id="18" name="Oval 17"/>
          <p:cNvSpPr/>
          <p:nvPr/>
        </p:nvSpPr>
        <p:spPr>
          <a:xfrm>
            <a:off x="3772519" y="5550769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4271" y="5541625"/>
            <a:ext cx="2830687" cy="4067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RD는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!rd_inflight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일 때만 → 읽기 파이프 1개, RD는 최대 4클럭에 1번 (17쪽)</a:t>
            </a:r>
          </a:p>
        </p:txBody>
      </p:sp>
      <p:sp>
        <p:nvSpPr>
          <p:cNvPr id="20" name="Oval 19"/>
          <p:cNvSpPr/>
          <p:nvPr/>
        </p:nvSpPr>
        <p:spPr>
          <a:xfrm>
            <a:off x="7133559" y="5144042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5311" y="5134898"/>
            <a:ext cx="4205000" cy="4067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ACT 클럭에 섀도 bank_open · bank_row와 tRAS · tRC 잔여를 함께 장전</a:t>
            </a:r>
          </a:p>
        </p:txBody>
      </p:sp>
      <p:sp>
        <p:nvSpPr>
          <p:cNvPr id="22" name="Oval 21"/>
          <p:cNvSpPr/>
          <p:nvPr/>
        </p:nvSpPr>
        <p:spPr>
          <a:xfrm>
            <a:off x="7133559" y="5550769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5311" y="5541625"/>
            <a:ext cx="4205000" cy="4067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b_timer ← tRCD − 1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: 대기 종료 클럭에 바로 발행하던 v0 기준. v1에서는 간격이 tRCD + 1</a:t>
            </a:r>
          </a:p>
        </p:txBody>
      </p:sp>
      <p:sp>
        <p:nvSpPr>
          <p:cNvPr id="24" name="Oval 23"/>
          <p:cNvSpPr/>
          <p:nvPr/>
        </p:nvSpPr>
        <p:spPr>
          <a:xfrm>
            <a:off x="7133559" y="5957496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5311" y="5948352"/>
            <a:ext cx="4205000" cy="4067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ACT_WAIT 종료는 상태만 ST_RD/WR로 → 실제 RD/WR는 다음 클럭 중재기가 발행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05  RTL 코드 ③  리프레시 · 응답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리프레시는 '비운 뒤 REF', 응답은 tag 순서로 retire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refi_cnt가 0이면 수락을 막고 진행 중 작업을 기다린다 · 완료는 순서와 무관하게 버퍼에, 반환은 tag_retire 순서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Mini DRAM Controller  ·  요청 큐 + 뱅크 병렬 스케줄러  ·  용현 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1512" y="64739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10 / 22</a:t>
            </a:r>
          </a:p>
        </p:txBody>
      </p:sp>
      <p:pic>
        <p:nvPicPr>
          <p:cNvPr id="8" name="Picture 7" descr="code_refr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6485834" cy="2868811"/>
          </a:xfrm>
          <a:prstGeom prst="rect">
            <a:avLst/>
          </a:prstGeom>
        </p:spPr>
      </p:pic>
      <p:pic>
        <p:nvPicPr>
          <p:cNvPr id="9" name="Picture 8" descr="code_ret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074" y="1645920"/>
            <a:ext cx="4377237" cy="2868811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48640" y="4661035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651891"/>
            <a:ext cx="2895445" cy="8515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ref_due = refi_cnt == 0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→ 같은 클럭부터 req_ready 0 (8쪽 ①)</a:t>
            </a:r>
          </a:p>
        </p:txBody>
      </p:sp>
      <p:sp>
        <p:nvSpPr>
          <p:cNvPr id="12" name="Oval 11"/>
          <p:cNvSpPr/>
          <p:nvPr/>
        </p:nvSpPr>
        <p:spPr>
          <a:xfrm>
            <a:off x="3837277" y="4661035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9029" y="4651891"/>
            <a:ext cx="2895445" cy="8515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REF 조건: 전 뱅크 IDLE &amp; 큐 0 &amp; DRAM idle — 첫 REF는 진행 중 WR 때문에 6클럭 대기 (16쪽)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512629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5503485"/>
            <a:ext cx="2895445" cy="8515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busy가 풀리는 클럭에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ref_active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해제, refi_cnt를 64로 다시 장전</a:t>
            </a:r>
          </a:p>
        </p:txBody>
      </p:sp>
      <p:sp>
        <p:nvSpPr>
          <p:cNvPr id="16" name="Oval 15"/>
          <p:cNvSpPr/>
          <p:nvPr/>
        </p:nvSpPr>
        <p:spPr>
          <a:xfrm>
            <a:off x="3837277" y="5512629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9029" y="5503485"/>
            <a:ext cx="2895445" cy="8515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REF가 모델의 뱅크를 다 닫으므로 섀도도 닫음 → REF 직후 같은 row는 hit이 아니라 closed</a:t>
            </a:r>
          </a:p>
        </p:txBody>
      </p:sp>
      <p:sp>
        <p:nvSpPr>
          <p:cNvPr id="18" name="Oval 17"/>
          <p:cNvSpPr/>
          <p:nvPr/>
        </p:nvSpPr>
        <p:spPr>
          <a:xfrm>
            <a:off x="7263074" y="4661035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4826" y="4651891"/>
            <a:ext cx="1841146" cy="8515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rsp_valid = rsp_done[tag_retire]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— 가장 오래된 요청이 끝나야 응답. 뒤 요청이 먼저 끝나면 대기</a:t>
            </a:r>
          </a:p>
        </p:txBody>
      </p:sp>
      <p:sp>
        <p:nvSpPr>
          <p:cNvPr id="20" name="Oval 19"/>
          <p:cNvSpPr/>
          <p:nvPr/>
        </p:nvSpPr>
        <p:spPr>
          <a:xfrm>
            <a:off x="9497413" y="4661035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9165" y="4651891"/>
            <a:ext cx="1841146" cy="8515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WR도 응답을 낸다 (데이터 0) → 호스트는 요청 수 = 응답 수로 셀 수 있다</a:t>
            </a:r>
          </a:p>
        </p:txBody>
      </p:sp>
      <p:sp>
        <p:nvSpPr>
          <p:cNvPr id="22" name="Oval 21"/>
          <p:cNvSpPr/>
          <p:nvPr/>
        </p:nvSpPr>
        <p:spPr>
          <a:xfrm>
            <a:off x="7263074" y="5512629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4826" y="5503485"/>
            <a:ext cx="1841146" cy="8515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RD 데이터를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b_tag[rd_bank_q]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칸에 쓴다 — 칸이 비었는지 보지 않음 → tag가 한 바퀴 돌면 덮어씀 (18쪽)</a:t>
            </a:r>
          </a:p>
        </p:txBody>
      </p:sp>
      <p:sp>
        <p:nvSpPr>
          <p:cNvPr id="24" name="Oval 23"/>
          <p:cNvSpPr/>
          <p:nvPr/>
        </p:nvSpPr>
        <p:spPr>
          <a:xfrm>
            <a:off x="9497413" y="5512629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165" y="5503485"/>
            <a:ext cx="1841146" cy="8515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핸드셰이크 때 done 비트를 지우고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tag_retire + 1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05  RTL 코드 ④  DRAM 모델 · 타이밍 상수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DRAM 모델은 규칙 위반을 플래그로 알리고, 상수는 패키지 한 곳에 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dram_model은 상태 · 데이터 · tCL/tRFC만 모델링하고 명령 간격은 검사하지 않는다 — 그 빈칸을 VCD 체커로 메웠다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Mini DRAM Controller  ·  요청 큐 + 뱅크 병렬 스케줄러  ·  용현 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1512" y="64739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11 / 22</a:t>
            </a:r>
          </a:p>
        </p:txBody>
      </p:sp>
      <p:pic>
        <p:nvPicPr>
          <p:cNvPr id="8" name="Picture 7" descr="code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334000" cy="3851910"/>
          </a:xfrm>
          <a:prstGeom prst="rect">
            <a:avLst/>
          </a:prstGeom>
        </p:spPr>
      </p:pic>
      <p:pic>
        <p:nvPicPr>
          <p:cNvPr id="9" name="Picture 8" descr="code_pk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959" y="1645920"/>
            <a:ext cx="5483352" cy="1885738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156959" y="3677962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8711" y="3668818"/>
            <a:ext cx="5181600" cy="3837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ACT를 열린 뱅크의 다른 row로 (PRE 누락) →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access_err</a:t>
            </a:r>
          </a:p>
        </p:txBody>
      </p:sp>
      <p:sp>
        <p:nvSpPr>
          <p:cNvPr id="12" name="Oval 11"/>
          <p:cNvSpPr/>
          <p:nvPr/>
        </p:nvSpPr>
        <p:spPr>
          <a:xfrm>
            <a:off x="6156959" y="4061713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8711" y="4052569"/>
            <a:ext cx="5181600" cy="3837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RD가 닫힌 뱅크나 다른 row로 오면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access_err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— RD/WR마다 다시 계산</a:t>
            </a:r>
          </a:p>
        </p:txBody>
      </p:sp>
      <p:sp>
        <p:nvSpPr>
          <p:cNvPr id="14" name="Oval 13"/>
          <p:cNvSpPr/>
          <p:nvPr/>
        </p:nvSpPr>
        <p:spPr>
          <a:xfrm>
            <a:off x="6156959" y="4445465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8711" y="4436321"/>
            <a:ext cx="5181600" cy="3837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tCL 카운트 뒤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data_valid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1클럭 → 컨트롤러 RD_WAIT의 종료 조건</a:t>
            </a:r>
          </a:p>
        </p:txBody>
      </p:sp>
      <p:sp>
        <p:nvSpPr>
          <p:cNvPr id="16" name="Oval 15"/>
          <p:cNvSpPr/>
          <p:nvPr/>
        </p:nvSpPr>
        <p:spPr>
          <a:xfrm>
            <a:off x="6156959" y="4829217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8711" y="4820073"/>
            <a:ext cx="5181600" cy="3837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잘못된 WR는 메모리에 쓰지 않음 → 데이터 비교로도 드러난다</a:t>
            </a:r>
          </a:p>
        </p:txBody>
      </p:sp>
      <p:sp>
        <p:nvSpPr>
          <p:cNvPr id="18" name="Oval 17"/>
          <p:cNvSpPr/>
          <p:nvPr/>
        </p:nvSpPr>
        <p:spPr>
          <a:xfrm>
            <a:off x="6156959" y="5212968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8711" y="5203824"/>
            <a:ext cx="5181600" cy="3837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tRCD · tRP · tRAS → 뱅크 엔진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b_timer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ras_rem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이 사용</a:t>
            </a:r>
          </a:p>
        </p:txBody>
      </p:sp>
      <p:sp>
        <p:nvSpPr>
          <p:cNvPr id="20" name="Oval 19"/>
          <p:cNvSpPr/>
          <p:nvPr/>
        </p:nvSpPr>
        <p:spPr>
          <a:xfrm>
            <a:off x="6156959" y="5596720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8711" y="5587576"/>
            <a:ext cx="5181600" cy="3837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tRC 9 = tRAS 6 + tRP 3 (문서 그대로) · 측정 최소 tRC 23, 위반 0</a:t>
            </a:r>
          </a:p>
        </p:txBody>
      </p:sp>
      <p:sp>
        <p:nvSpPr>
          <p:cNvPr id="22" name="Oval 21"/>
          <p:cNvSpPr/>
          <p:nvPr/>
        </p:nvSpPr>
        <p:spPr>
          <a:xfrm>
            <a:off x="6156959" y="5980472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8711" y="5971328"/>
            <a:ext cx="5181600" cy="3837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tREFI 64 · tRFC 12 → 문서 추정 REF 비중 ≈19%, 이번 측정 18.3%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07558"/>
            <a:ext cx="5334000" cy="747521"/>
          </a:xfrm>
          <a:prstGeom prst="rect">
            <a:avLst/>
          </a:prstGeom>
          <a:solidFill>
            <a:srgbClr val="FB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662422"/>
            <a:ext cx="5114544" cy="656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커버리지</a:t>
            </a: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 dram_model 분기 18개 중 3개 미실행 — L110 if (ACT 충돌), L133 else (잘못된 WR), L93 else (miss RD). 모델의 에러 경로가 한 번도 발화하지 않았으므로 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access_err count = 0</a:t>
            </a: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은 '위반이 없었다'까지만 말한다 (19쪽 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06  검증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검증: 저장소 TB 4개 시나리오 + 포트폴리오용 측정 · 실험 계층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저장소 tb_mem_ctrl은 수정 없이 그대로 돌리고, 그 위에 VCD 분석과 별도 실험 TB를 얹었다 — 실험 코드는 저장소 밖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Mini DRAM Controller  ·  요청 큐 + 뱅크 병렬 스케줄러  ·  용현 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1512" y="64739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12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457200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57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6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tb_mem_ctrl</a:t>
            </a:r>
            <a:r>
              <a:rPr sz="10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(저장소, 수정 없음) · </a:t>
            </a:r>
            <a:r>
              <a:rPr sz="96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always #5 clk</a:t>
            </a:r>
            <a:r>
              <a:rPr sz="10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= 100 MHz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4206240" cy="594360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호스트 태스크</a:t>
            </a:r>
          </a:p>
          <a:p>
            <a:pPr algn="l">
              <a:lnSpc>
                <a:spcPct val="112000"/>
              </a:lnSpc>
            </a:pP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host_write</a:t>
            </a: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host_read</a:t>
            </a: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host_accept_write</a:t>
            </a: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— negedge 구동, 응답까지 blocking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880360"/>
            <a:ext cx="1828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57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935224"/>
            <a:ext cx="1682496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dut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mem_ctrl_top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설계 전체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880360"/>
            <a:ext cx="2103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57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07792" y="2935224"/>
            <a:ext cx="1956815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판정</a:t>
            </a:r>
          </a:p>
          <a:p>
            <a:pPr algn="l">
              <a:lnSpc>
                <a:spcPct val="108000"/>
              </a:lnSpc>
            </a:pP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check_eq</a:t>
            </a: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데이터 10곳</a:t>
            </a:r>
          </a:p>
          <a:p>
            <a:pPr algn="l">
              <a:lnSpc>
                <a:spcPct val="108000"/>
              </a:lnSpc>
            </a:pPr>
            <a:r>
              <a:rPr sz="816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access_err</a:t>
            </a: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횟수 = 0</a:t>
            </a:r>
          </a:p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열린 뱅크 ≥ 2 · rsp_err 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45920" y="2651760"/>
            <a:ext cx="0" cy="22860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560320" y="3364992"/>
            <a:ext cx="274320" cy="0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3977639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PASS 기준: 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errs == 0</a:t>
            </a: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이면 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[TB] PASS</a:t>
            </a: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 출력 · 타임아웃 1 ms. 시나리오 4는 쓰기 4개를 연속 수락만 하고 80클럭 뒤 RD 4개로 데이터 확인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20640"/>
            <a:ext cx="457200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C810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포트폴리오 계층 (스크래치, 저장소 밖)</a:t>
            </a:r>
          </a:p>
          <a:p>
            <a:pPr algn="l">
              <a:lnSpc>
                <a:spcPct val="110000"/>
              </a:lnSpc>
            </a:pP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tb_pf_top</a:t>
            </a: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: tb_mem_ctrl 인스턴스 + 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$dumpvars</a:t>
            </a: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→ full.vcd</a:t>
            </a:r>
          </a:p>
          <a:p>
            <a:pPr algn="l">
              <a:lnSpc>
                <a:spcPct val="110000"/>
              </a:lnSpc>
            </a:pP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tb_pf_backpressure</a:t>
            </a: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: rsp_ready 150클럭 0 + 읽기 20개 (18쪽)</a:t>
            </a:r>
          </a:p>
          <a:p>
            <a:pPr algn="l">
              <a:lnSpc>
                <a:spcPct val="110000"/>
              </a:lnSpc>
            </a:pP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analyze.py</a:t>
            </a: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: VCD → 명령 간격 · 지연 분류 · 엔진 동시성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394960" y="1691640"/>
          <a:ext cx="6245352" cy="2286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188720"/>
                <a:gridCol w="2788920"/>
                <a:gridCol w="2267712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자극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 page hit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WR b0 r11 → 같은 주소 RD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11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A5A5_5A5A</a:t>
                      </a: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일치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  page miss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b0 r22 WR · RD → 다시 r11 RD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row · 원래 row 데이터 모두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  multi-bank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b1 r33 WR · RD, b0 r44 conflict, b1 재확인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b0 row 변경 뒤 b1 데이터 유지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  4뱅크 버스트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b0–b3 WR 4개 연속 수락 → 80클럭 뒤 RD 4개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4개 데이터 · 열린 뱅크 ≥ 2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구간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access_err 0 · rsp_err 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394960" y="4096512"/>
            <a:ext cx="624535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이번에 추가한 검사 (저장소 TB가 하지 않는 것)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394960" y="4434840"/>
          <a:ext cx="6245352" cy="178765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4114800"/>
                <a:gridCol w="804672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검사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방법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타이밍 규칙 7개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VCD 명령을 뱅크별로 짝지어 tRCD · tRP · tRAS · tRC · tWR · tCL · tRFC 최소 간격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13쪽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지연 분류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요청마다 hit / closed / conflict와 수락 → 응답 클럭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14–17쪽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v0 A/B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v0 mem_ctrl (64e73e0) + HEAD 모델 · TB로 같은 측정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 · 17쪽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백프레셔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coverage.md의 gap — rsp_ready를 막고 읽기 20개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18쪽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커버리지 · 합성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Verilator line · branch · toggle, Yosys + OpenSTA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 · 20쪽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06  검증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결과: PASS · 타이밍 위반 0 · mem_ctrl 라인 94.3% / 분기 91.9%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Verilator 5.052로 저장소 그대로 재실행 — 빌드 1.04 s · 시뮬 3.155 µs (312클럭) · 명령 ACT 14 · PRE 4 · RD 10 · WR 8 · REF 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Mini DRAM Controller  ·  요청 큐 + 뱅크 병렬 스케줄러  ·  용현 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1512" y="64739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13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4160520" cy="3246120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5564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8C959F"/>
                </a:solidFill>
                <a:latin typeface="Consolas"/>
                <a:ea typeface="Malgun Gothic"/>
                <a:cs typeface="Malgun Gothic"/>
              </a:rPr>
              <a:t>sim/regress.log  (make sim과 같은 플래그)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84248"/>
            <a:ext cx="3977639" cy="2926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=== SCENARIO 1: page hit WR→RD ===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hit RD OK (0xa5a55a5a)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=== SCENARIO 2: page miss (bank0 row change) ===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miss-new RD OK (0xbeef0002)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miss-old RD OK (0xa5a55a5a)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=== SCENARIO 3: multi-bank + bank0 conflict ===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bank1 RD OK (0xc0de0001)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bank0 conflict RD OK (0xd00d0004)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bank1 survived OK (0xc0de0001)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=== SCENARIO 4: queue depth — burst accept 4 banks ===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peak banks open during burst=4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q bank0 OK (0x10000000)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q bank1 OK (0x20000000)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q bank2 OK (0x30000000)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q bank3 OK (0x40000000)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access_err count=0 OK</a:t>
            </a:r>
          </a:p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C8102E"/>
                </a:solidFill>
                <a:latin typeface="Consolas"/>
                <a:ea typeface="Malgun Gothic"/>
                <a:cs typeface="Malgun Gothic"/>
              </a:rPr>
              <a:t>PASS — hit/miss/multi-bank/queue-parallel 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416052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64592" indent="-164592">
              <a:lnSpc>
                <a:spcPct val="108000"/>
              </a:lnSpc>
              <a:spcAft>
                <a:spcPts val="300"/>
              </a:spcAft>
              <a:buClr>
                <a:srgbClr val="57606A"/>
              </a:buClr>
              <a:buSzPct val="100000"/>
              <a:buFont typeface="Arial"/>
              <a:buChar char="•"/>
            </a:pP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verilator -Wall --timing --sv --binary</a:t>
            </a: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 (Makefile 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sim</a:t>
            </a: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과 동일) · lint: 에러 0, UNUSEDSIGNAL 경고 9개 (host_if 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clk</a:t>
            </a: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rst_n</a:t>
            </a: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, mem_ctrl의 루프 변수 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</a:t>
            </a: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 상위 비트 등)</a:t>
            </a:r>
          </a:p>
          <a:p>
            <a:pPr algn="l" marL="164592" indent="-164592">
              <a:lnSpc>
                <a:spcPct val="108000"/>
              </a:lnSpc>
              <a:spcAft>
                <a:spcPts val="300"/>
              </a:spcAft>
              <a:buClr>
                <a:srgbClr val="57606A"/>
              </a:buClr>
              <a:buSzPct val="100000"/>
              <a:buFont typeface="Arial"/>
              <a:buChar char="•"/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파형은 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--trace</a:t>
            </a: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 래퍼, 커버리지는 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--coverage-line --coverage-toggle</a:t>
            </a: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 별도 빌드 · cocotb 경로는 실행하지 않음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64592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커버리지 (Verilator)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983480" y="1965960"/>
          <a:ext cx="3383280" cy="148132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280160"/>
                <a:gridCol w="685800"/>
                <a:gridCol w="685800"/>
                <a:gridCol w="731520"/>
              </a:tblGrid>
              <a:tr h="2468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모듈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라인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분기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토글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mem_ctrl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94.3%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91.9%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51.2%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dram_model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100.0%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83.3%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75.7%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host_if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–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–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81.5%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mem_ctrl_top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–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–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82.1%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95.8%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90.2%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63.7%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983480" y="361188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타이밍 규칙 (VCD 체커)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983480" y="3931920"/>
          <a:ext cx="3383280" cy="186537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685800"/>
                <a:gridCol w="548640"/>
                <a:gridCol w="868680"/>
                <a:gridCol w="594360"/>
                <a:gridCol w="685800"/>
              </a:tblGrid>
              <a:tr h="2331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스펙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최소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횟수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위반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tRCD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tRP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tRAS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tRC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tWR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tCL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tRFC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983480" y="585216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tWR = WR → 같은 뱅크 PRE, tRFC = REF → 다음 명령. 음영: 스펙보다 1클럭 김 (17쪽)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1645920"/>
            <a:ext cx="299923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커버리지 구멍 → 다음 테스트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1993392"/>
            <a:ext cx="2999232" cy="434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64592" indent="-164592">
              <a:lnSpc>
                <a:spcPct val="108000"/>
              </a:lnSpc>
              <a:spcAft>
                <a:spcPts val="400"/>
              </a:spcAft>
              <a:buClr>
                <a:srgbClr val="57606A"/>
              </a:buClr>
              <a:buSzPct val="100000"/>
              <a:buFont typeface="Arial"/>
              <a:buChar char="•"/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큐 점유 최대 1 — 슬롯 1–3 미사용. 태스크가 응답까지 기다리는 blocking 구조라 깊이 4를 시험하지 못함 (coverage.md의 'Depth-4 accept'와 다름)</a:t>
            </a:r>
          </a:p>
          <a:p>
            <a:pPr algn="l" marL="164592" indent="-164592">
              <a:lnSpc>
                <a:spcPct val="108000"/>
              </a:lnSpc>
              <a:spcAft>
                <a:spcPts val="400"/>
              </a:spcAft>
              <a:buClr>
                <a:srgbClr val="57606A"/>
              </a:buClr>
              <a:buSzPct val="100000"/>
              <a:buFont typeface="Arial"/>
              <a:buChar char="•"/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write hit (L259) · push와 dispatch 동시 (L271) · PRE_WAIT → IDLE (L315) · 두 후보 나이 비교 (L123 else) 미실행</a:t>
            </a:r>
          </a:p>
          <a:p>
            <a:pPr algn="l" marL="164592" indent="-164592">
              <a:lnSpc>
                <a:spcPct val="108000"/>
              </a:lnSpc>
              <a:spcAft>
                <a:spcPts val="400"/>
              </a:spcAft>
              <a:buClr>
                <a:srgbClr val="57606A"/>
              </a:buClr>
              <a:buSzPct val="100000"/>
              <a:buFont typeface="Arial"/>
              <a:buChar char="•"/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모델 에러 분기 3개 미실행 → access_err 경로에 음성 테스트 없음</a:t>
            </a:r>
          </a:p>
          <a:p>
            <a:pPr algn="l" marL="164592" indent="-164592">
              <a:lnSpc>
                <a:spcPct val="108000"/>
              </a:lnSpc>
              <a:spcAft>
                <a:spcPts val="400"/>
              </a:spcAft>
              <a:buClr>
                <a:srgbClr val="57606A"/>
              </a:buClr>
              <a:buSzPct val="100000"/>
              <a:buFont typeface="Arial"/>
              <a:buChar char="•"/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토글 51.2%: 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rsp_data</a:t>
            </a: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16 × 32b 등 넓은 레지스터 대부분이 고정</a:t>
            </a:r>
          </a:p>
          <a:p>
            <a:pPr algn="l" marL="164592" indent="-164592">
              <a:lnSpc>
                <a:spcPct val="108000"/>
              </a:lnSpc>
              <a:spcAft>
                <a:spcPts val="400"/>
              </a:spcAft>
              <a:buClr>
                <a:srgbClr val="57606A"/>
              </a:buClr>
              <a:buSzPct val="100000"/>
              <a:buFont typeface="Arial"/>
              <a:buChar char="•"/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L287 · 295 · 299 cond_else, L307 default는 상수 · 도달 불가 분기</a:t>
            </a:r>
          </a:p>
          <a:p>
            <a:pPr algn="l" marL="164592" indent="-164592">
              <a:lnSpc>
                <a:spcPct val="108000"/>
              </a:lnSpc>
              <a:spcAft>
                <a:spcPts val="400"/>
              </a:spcAft>
              <a:buClr>
                <a:srgbClr val="57606A"/>
              </a:buClr>
              <a:buSzPct val="100000"/>
              <a:buFont typeface="Arial"/>
              <a:buChar char="•"/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coverage.md의 gap 'Backpressure'를 18쪽 실험으로 닫음 → 버그 발견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07  시뮬레이션 파형 ①  page 정책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page 정책: 같은 bank 0에서 closed 9 · hit 6 · conflict 13클럭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Mini DRAM Controller  ·  요청 큐 + 뱅크 병렬 스케줄러  ·  용현 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64739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14 / 22</a:t>
            </a:r>
          </a:p>
        </p:txBody>
      </p:sp>
      <p:pic>
        <p:nvPicPr>
          <p:cNvPr id="7" name="Picture 6" descr="wave_w1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170432"/>
            <a:ext cx="11338560" cy="3882043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48640" y="5148072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5138928"/>
            <a:ext cx="14554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65 ns  WR b0 row 11 수락 · q_count 1. 뱅크가 닫혀 있어 closed 경로</a:t>
            </a:r>
          </a:p>
        </p:txBody>
      </p:sp>
      <p:sp>
        <p:nvSpPr>
          <p:cNvPr id="10" name="Oval 9"/>
          <p:cNvSpPr/>
          <p:nvPr/>
        </p:nvSpPr>
        <p:spPr>
          <a:xfrm>
            <a:off x="2415540" y="5148072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7292" y="5138928"/>
            <a:ext cx="14554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85 ns  ACT — 수락 후 2클럭 (큐 등록 → dispatch → 발행)</a:t>
            </a:r>
          </a:p>
        </p:txBody>
      </p:sp>
      <p:sp>
        <p:nvSpPr>
          <p:cNvPr id="12" name="Oval 11"/>
          <p:cNvSpPr/>
          <p:nvPr/>
        </p:nvSpPr>
        <p:spPr>
          <a:xfrm>
            <a:off x="4282440" y="5148072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192" y="5138928"/>
            <a:ext cx="14554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125 ns  WR — ACT 후 4클럭 = tRCD 3 + 1 (대기 종료 다음 클럭에 발행)</a:t>
            </a:r>
          </a:p>
        </p:txBody>
      </p:sp>
      <p:sp>
        <p:nvSpPr>
          <p:cNvPr id="14" name="Oval 13"/>
          <p:cNvSpPr/>
          <p:nvPr/>
        </p:nvSpPr>
        <p:spPr>
          <a:xfrm>
            <a:off x="6149340" y="5148072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1092" y="5138928"/>
            <a:ext cx="14554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195 ns  같은 row RD → ACT 없이 바로 RD, hit 6클럭</a:t>
            </a:r>
          </a:p>
        </p:txBody>
      </p:sp>
      <p:sp>
        <p:nvSpPr>
          <p:cNvPr id="16" name="Oval 15"/>
          <p:cNvSpPr/>
          <p:nvPr/>
        </p:nvSpPr>
        <p:spPr>
          <a:xfrm>
            <a:off x="8016240" y="5148072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7992" y="5138928"/>
            <a:ext cx="14554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275 ns  row 22 WR → 열린 row 11과 충돌, PRE부터 (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b_need_act</a:t>
            </a: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8" name="Oval 17"/>
          <p:cNvSpPr/>
          <p:nvPr/>
        </p:nvSpPr>
        <p:spPr>
          <a:xfrm>
            <a:off x="9883140" y="5148072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4892" y="5138928"/>
            <a:ext cx="14554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355 ns  PRE → ACT 4 · ACT → WR 4클럭 → conflict 13클럭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81344"/>
            <a:ext cx="11091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tb_mem_ctrl 시나리오 1 · 2, 50–475 ns · 저장소 TB를 </a:t>
            </a:r>
            <a:r>
              <a:rPr sz="816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tb_pf_top</a:t>
            </a:r>
            <a:r>
              <a:rPr sz="85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 래퍼로 감싸 Verilator </a:t>
            </a:r>
            <a:r>
              <a:rPr sz="816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--trace</a:t>
            </a:r>
            <a:r>
              <a:rPr sz="85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 VCD에서 그린 실제 파형 · 마커는 샘플링 클럭 엣지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07  시뮬레이션 파형 ②  4뱅크 병렬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4뱅크 버스트: 엔진 4개가 겹쳐 돌고, 응답은 tag 순서로 연속 4클럭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Mini DRAM Controller  ·  요청 큐 + 뱅크 병렬 스케줄러  ·  용현 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64739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15 / 22</a:t>
            </a:r>
          </a:p>
        </p:txBody>
      </p:sp>
      <p:pic>
        <p:nvPicPr>
          <p:cNvPr id="7" name="Picture 6" descr="wave_w2_bur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170432"/>
            <a:ext cx="11338560" cy="3882043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48640" y="5148072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5138928"/>
            <a:ext cx="2368296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1265 ns  WR b0 r10 수락. 2클럭 간격으로 b1 · b2 · b3 — 바로 dispatch되어 q_count는 1을 넘지 않음</a:t>
            </a:r>
          </a:p>
        </p:txBody>
      </p:sp>
      <p:sp>
        <p:nvSpPr>
          <p:cNvPr id="10" name="Oval 9"/>
          <p:cNvSpPr/>
          <p:nvPr/>
        </p:nvSpPr>
        <p:spPr>
          <a:xfrm>
            <a:off x="3355848" y="5148072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138928"/>
            <a:ext cx="2368296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1325 ns  b0 · b2가 함께 ACT 대기 →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rr_ptr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= 2라 b2 먼저, b0는 다음 클럭. 132–139클럭 매 클럭 명령</a:t>
            </a:r>
          </a:p>
        </p:txBody>
      </p:sp>
      <p:sp>
        <p:nvSpPr>
          <p:cNvPr id="12" name="Oval 11"/>
          <p:cNvSpPr/>
          <p:nvPr/>
        </p:nvSpPr>
        <p:spPr>
          <a:xfrm>
            <a:off x="6163056" y="5148072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5138928"/>
            <a:ext cx="2368296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1365 ns  첫 WR는 closed인 b2 — PRE부터 해야 하는 b0 · b1(conflict)보다 먼저 끝남</a:t>
            </a:r>
          </a:p>
        </p:txBody>
      </p:sp>
      <p:sp>
        <p:nvSpPr>
          <p:cNvPr id="14" name="Oval 13"/>
          <p:cNvSpPr/>
          <p:nvPr/>
        </p:nvSpPr>
        <p:spPr>
          <a:xfrm>
            <a:off x="8970264" y="5148072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2016" y="5138928"/>
            <a:ext cx="2368296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1405 ns  응답은 tag 순서 b0 → b1 → b2 → b3 연속 4클럭. 먼저 끝난 b2는 버퍼에서 3클럭 대기 · 총 17클럭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81344"/>
            <a:ext cx="11091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tb_mem_ctrl 시나리오 4, 1240–1450 ns · v0는 같은 트래픽에 35클럭 · TB의 '열린 뱅크 ≥ 2' 검사는 버스트 직전에 이미 0011이라 병렬성의 증거가 아님 (19쪽 C)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07  시뮬레이션 파형 ③  리프레시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리프레시: 6클럭 drain → REF → 14클럭 뒤 수락, 열린 row는 닫힌다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Mini DRAM Controller  ·  요청 큐 + 뱅크 병렬 스케줄러  ·  용현 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64739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16 / 22</a:t>
            </a:r>
          </a:p>
        </p:txBody>
      </p:sp>
      <p:pic>
        <p:nvPicPr>
          <p:cNvPr id="7" name="Picture 6" descr="wave_w3_refr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170432"/>
            <a:ext cx="11338560" cy="3882043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48640" y="5148072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5138928"/>
            <a:ext cx="2368296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675 ns  refi_cnt 0 →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ref_due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, 같은 클럭부터 req_ready 0. bank 1은 WR 진행 중</a:t>
            </a:r>
          </a:p>
        </p:txBody>
      </p:sp>
      <p:sp>
        <p:nvSpPr>
          <p:cNvPr id="10" name="Oval 9"/>
          <p:cNvSpPr/>
          <p:nvPr/>
        </p:nvSpPr>
        <p:spPr>
          <a:xfrm>
            <a:off x="3355848" y="5148072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138928"/>
            <a:ext cx="2368296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735 ns  bank 1 WR 완료 · 전 뱅크 IDLE · 큐 0 → REF 발행 (drain 6).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d_busy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12클럭 = tRFC</a:t>
            </a:r>
          </a:p>
        </p:txBody>
      </p:sp>
      <p:sp>
        <p:nvSpPr>
          <p:cNvPr id="12" name="Oval 11"/>
          <p:cNvSpPr/>
          <p:nvPr/>
        </p:nvSpPr>
        <p:spPr>
          <a:xfrm>
            <a:off x="6163056" y="5148072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5138928"/>
            <a:ext cx="2368296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855 → 875 ns  busy 해제 →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ref_active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0 · refi_cnt 64 → 기다리던 RD b1 r33 수락</a:t>
            </a:r>
          </a:p>
        </p:txBody>
      </p:sp>
      <p:sp>
        <p:nvSpPr>
          <p:cNvPr id="14" name="Oval 13"/>
          <p:cNvSpPr/>
          <p:nvPr/>
        </p:nvSpPr>
        <p:spPr>
          <a:xfrm>
            <a:off x="8970264" y="5148072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2016" y="5138928"/>
            <a:ext cx="2368296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895 ns  REF가 bank_open을 0000으로 → 방금 쓴 row 33도 ACT부터: hit 6이 아니라 closed 10클럭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81344"/>
            <a:ext cx="11091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tb_mem_ctrl 시나리오 3 구간, 590–960 ns · REF 창(수락 차단) 20 · 14 · 14 · 9(잘림)클럭, 전체 312클럭 중 57클럭 = 18.3% (문서 추정 ≈19%)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08  성능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성능: 버스트 처리량 2.06×, 대신 단독 요청의 지연은 +2–3클럭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같은 TB 트래픽을 v0 · v1 · opt(대기 preload −1, 스크래치 패치)로 돌려 클래스별 수락 → 응답 클럭을 비교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Mini DRAM Controller  ·  요청 큐 + 뱅크 병렬 스케줄러  ·  용현 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1512" y="64739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17 / 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91640"/>
          <a:ext cx="3886200" cy="192024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71600"/>
                <a:gridCol w="685800"/>
                <a:gridCol w="548640"/>
                <a:gridCol w="640080"/>
                <a:gridCol w="64008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 (횟수)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hit RD (4)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4–5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closed RD (5)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7–9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closed WR (5)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6–8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9–12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8–10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conflict RD (1)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10–13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conflict WR (3)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9–12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13–14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11–12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4뱅크 버스트 span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–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35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630168"/>
            <a:ext cx="3886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클럭 · 문서 = scheduler-throughput.md §2 추정 (v0 기준) · write hit는 TB에 없음</a:t>
            </a:r>
          </a:p>
        </p:txBody>
      </p:sp>
      <p:pic>
        <p:nvPicPr>
          <p:cNvPr id="10" name="Picture 9" descr="code_o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069080"/>
            <a:ext cx="3886200" cy="11405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282747"/>
            <a:ext cx="3886200" cy="10723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64592" indent="-164592">
              <a:lnSpc>
                <a:spcPct val="105000"/>
              </a:lnSpc>
              <a:spcAft>
                <a:spcPts val="200"/>
              </a:spcAft>
              <a:buClr>
                <a:srgbClr val="57606A"/>
              </a:buClr>
              <a:buSzPct val="100000"/>
              <a:buFont typeface="Arial"/>
              <a:buChar char="•"/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opt: tRCD · tRP 측정 최소 3 · 3 = 스펙, 위반 0, 저장소 TB PASS</a:t>
            </a:r>
          </a:p>
          <a:p>
            <a:pPr algn="l" marL="164592" indent="-164592">
              <a:lnSpc>
                <a:spcPct val="105000"/>
              </a:lnSpc>
              <a:spcAft>
                <a:spcPts val="200"/>
              </a:spcAft>
              <a:buClr>
                <a:srgbClr val="57606A"/>
              </a:buClr>
              <a:buSzPct val="100000"/>
              <a:buFont typeface="Arial"/>
              <a:buChar char="•"/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면적 9,774 µm² · 2.644 ns — 비용 거의 없음. tRCD/tRP = 1이면 다시 +1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645920"/>
            <a:ext cx="693115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closed RD 하나를 쪼개면 (txn 14 · RD b0 row 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2011680"/>
            <a:ext cx="201168" cy="146304"/>
          </a:xfrm>
          <a:prstGeom prst="rect">
            <a:avLst/>
          </a:prstGeom>
          <a:solidFill>
            <a:srgbClr val="576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41848" y="1947672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수락 → 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011680"/>
            <a:ext cx="201168" cy="1463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04888" y="1947672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ACT → 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011680"/>
            <a:ext cx="201168" cy="146304"/>
          </a:xfrm>
          <a:prstGeom prst="rect">
            <a:avLst/>
          </a:prstGeom>
          <a:solidFill>
            <a:srgbClr val="8C9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947672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RD → 응답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322576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v0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2304288"/>
            <a:ext cx="365759" cy="256032"/>
          </a:xfrm>
          <a:prstGeom prst="rect">
            <a:avLst/>
          </a:prstGeom>
          <a:solidFill>
            <a:srgbClr val="576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79008" y="2304288"/>
            <a:ext cx="1133856" cy="25603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31152" y="2304288"/>
            <a:ext cx="1133856" cy="256032"/>
          </a:xfrm>
          <a:prstGeom prst="rect">
            <a:avLst/>
          </a:prstGeom>
          <a:solidFill>
            <a:srgbClr val="8C9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2322576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=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267004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v1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2651760"/>
            <a:ext cx="749808" cy="256032"/>
          </a:xfrm>
          <a:prstGeom prst="rect">
            <a:avLst/>
          </a:prstGeom>
          <a:solidFill>
            <a:srgbClr val="576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6" y="2651760"/>
            <a:ext cx="1517904" cy="25603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99248" y="2651760"/>
            <a:ext cx="1517904" cy="256032"/>
          </a:xfrm>
          <a:prstGeom prst="rect">
            <a:avLst/>
          </a:prstGeom>
          <a:solidFill>
            <a:srgbClr val="8C9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2670048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=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3017520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opt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94960" y="2999232"/>
            <a:ext cx="749808" cy="256032"/>
          </a:xfrm>
          <a:prstGeom prst="rect">
            <a:avLst/>
          </a:prstGeom>
          <a:solidFill>
            <a:srgbClr val="576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2999232"/>
            <a:ext cx="1133856" cy="25603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2999232"/>
            <a:ext cx="1517904" cy="256032"/>
          </a:xfrm>
          <a:prstGeom prst="rect">
            <a:avLst/>
          </a:prstGeom>
          <a:solidFill>
            <a:srgbClr val="8C9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24544" y="301752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= 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60" y="3429000"/>
            <a:ext cx="2218944" cy="13716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9160" y="3429000"/>
            <a:ext cx="45720" cy="1371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92040" y="3520440"/>
            <a:ext cx="19446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+1  큐 단계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3813048"/>
            <a:ext cx="1944624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수락 클럭에 큐에 쓰고, 다음 클럭에 dispatch → 엔진이 ACT 요청. v0는 IDLE에서 바로 래치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65264" y="3429000"/>
            <a:ext cx="2218944" cy="13716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65264" y="3429000"/>
            <a:ext cx="45720" cy="1371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48144" y="3520440"/>
            <a:ext cx="19446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+1  대기 → 발행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48144" y="3813048"/>
            <a:ext cx="1944624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timer 0인 클럭엔 상태만 바뀌고 발행은 다음 클럭 중재기에서. t−1 preload는 v0 기준 (opt가 제거)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21368" y="3429000"/>
            <a:ext cx="2218944" cy="13716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421368" y="3429000"/>
            <a:ext cx="45720" cy="1371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4248" y="3520440"/>
            <a:ext cx="19446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+1  응답 버퍼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4248" y="3813048"/>
            <a:ext cx="1944624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data_valid → 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rsp_done</a:t>
            </a: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 레지스터 → 다음 클럭 rsp_valid. in-order 재정렬의 비용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09160" y="4956048"/>
            <a:ext cx="3396996" cy="13716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09160" y="4956048"/>
            <a:ext cx="45720" cy="1371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92040" y="5047488"/>
            <a:ext cx="312267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처리량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2040" y="5340096"/>
            <a:ext cx="3122676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4뱅크 버스트 35 → 17클럭 (2.06×). 132–139클럭 동안 매 클럭 명령 1개 — 이 구간은 명령 버스가 병목. 엔진 2개 이상 동시 활성 11클럭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43316" y="4956048"/>
            <a:ext cx="3396996" cy="13716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43316" y="4956048"/>
            <a:ext cx="45720" cy="1371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26196" y="5047488"/>
            <a:ext cx="312267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리프레시 · 읽기 파이프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26196" y="5340096"/>
            <a:ext cx="3122676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REF 창이 시간의 18.3% (문서 ≈19%) · RD는 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rd_inflight</a:t>
            </a: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 하나라 최대 4클럭에 1번 (백프레셔 TB에서 RD 20개 간격 실측) — 연속 읽기 대역의 상한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09  디버그 ①  응답 백프레셔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버그: rsp_ready를 오래 막으면 4비트 tag가 한 바퀴 돌아 응답을 덮어쓴다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docs/coverage.md의 gap 'Backpressure'를 실험 TB로 재현 — 읽기 20개를 연달아 보내고 rsp_ready를 150클럭 동안 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Mini DRAM Controller  ·  요청 큐 + 뱅크 병렬 스케줄러  ·  용현 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1512" y="64739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18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70866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① 수락: tag 4가 아직 반환 전인데 rd16에게 다시 할당</a:t>
            </a:r>
          </a:p>
        </p:txBody>
      </p:sp>
      <p:pic>
        <p:nvPicPr>
          <p:cNvPr id="9" name="Picture 8" descr="wave_w4a_bp_w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10512"/>
            <a:ext cx="7086600" cy="2194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041648"/>
            <a:ext cx="70866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② rsp_ready 해제: 앞 4개는 남의 데이터, 뒤 4개는 사라짐</a:t>
            </a:r>
          </a:p>
        </p:txBody>
      </p:sp>
      <p:pic>
        <p:nvPicPr>
          <p:cNvPr id="11" name="Picture 10" descr="wave_w4b_bp_rele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97680"/>
            <a:ext cx="7086600" cy="19825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63840" y="1554480"/>
            <a:ext cx="377647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847088"/>
            <a:ext cx="3776472" cy="850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req_ready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는 큐 빈 슬롯만 본다 (L113). 큐는 dispatch로 계속 비므로 응답이 막혀도 수락이 이어지고,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tag_alloc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이 16을 돌아 아직 반환 안 된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tag_retire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(4)를 다시 준다. RD 완료는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rsp_data[b_tag]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를 빈칸 확인 없이 쓴다 (L337).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0" y="2752344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7432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1205 ns  outstanding 15 → fix는 req_ready 0으로 멈춤, head는 계속 수락</a:t>
            </a:r>
          </a:p>
        </p:txBody>
      </p:sp>
      <p:sp>
        <p:nvSpPr>
          <p:cNvPr id="16" name="Oval 15"/>
          <p:cNvSpPr/>
          <p:nvPr/>
        </p:nvSpPr>
        <p:spPr>
          <a:xfrm>
            <a:off x="7863840" y="3136391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312724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1245 ns  rd16이 tag 4를 받음 = tag_retire (rd0 미반환)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520439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3511296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1545 ns  rd16 완료가 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rsp_data[4]</a:t>
            </a: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를 00 → 10으로 덮어씀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0" y="3904487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3895344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2185 ns  해제 후 첫 응답: rd0 자리에 rd16의 데이터 10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0" y="4288536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427939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2335 ns  16개 반환 뒤 rsp_valid 0 — rd16–19 응답 없음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4672583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5592" y="46634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2455 ns  fix: 00 … 13, 20개가 순서대로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5120640"/>
            <a:ext cx="3776472" cy="731520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36992" y="5157216"/>
            <a:ext cx="36301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fix · mem_ctrl.sv L113 — 스크래치 패치, 저장소 미반영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0415" y="5349240"/>
            <a:ext cx="3703320" cy="155448"/>
          </a:xfrm>
          <a:prstGeom prst="rect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36992" y="5349240"/>
            <a:ext cx="3630168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C959F"/>
                </a:solidFill>
                <a:latin typeface="Consolas"/>
                <a:ea typeface="Malgun Gothic"/>
                <a:cs typeface="Malgun Gothic"/>
              </a:rPr>
              <a:t>- req_ready = free_found &amp;&amp; !ref_due &amp;&amp; !ref_active;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0415" y="5504688"/>
            <a:ext cx="3703320" cy="155448"/>
          </a:xfrm>
          <a:prstGeom prst="rect">
            <a:avLst/>
          </a:prstGeom>
          <a:solidFill>
            <a:srgbClr val="FB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6992" y="5504688"/>
            <a:ext cx="3630168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C8102E"/>
                </a:solidFill>
                <a:latin typeface="Consolas"/>
                <a:ea typeface="Malgun Gothic"/>
                <a:cs typeface="Malgun Gothic"/>
              </a:rPr>
              <a:t>+ req_ready = free_found &amp;&amp; !ref_due &amp;&amp; !ref_active &amp;&amp;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0415" y="5660136"/>
            <a:ext cx="3703320" cy="155448"/>
          </a:xfrm>
          <a:prstGeom prst="rect">
            <a:avLst/>
          </a:prstGeom>
          <a:solidFill>
            <a:srgbClr val="FB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36992" y="5660136"/>
            <a:ext cx="3630168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C8102E"/>
                </a:solidFill>
                <a:latin typeface="Consolas"/>
                <a:ea typeface="Malgun Gothic"/>
                <a:cs typeface="Malgun Gothic"/>
              </a:rPr>
              <a:t>+             (TAG_BITS'(tag_alloc + 1'b1) != tag_retire);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5907024"/>
            <a:ext cx="37764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head: 응답 16/20, 불일치 4 + 누락 4 → FAIL · fix: 20/20 PASS, 저장소 TB도 PASS · 면적 9,692 µm² · reg2reg 2.880 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09  디버그 ②  이슈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이슈 기록: 커밋 히스토리에서 확인한 3건 + AI 보조 재검증 제안 5건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왼쪽은 git log · diff · 재빌드로 확인되는 변경, 오른쪽은 재실행 · 실험 · 코드 리딩에서 새로 본 항목 (제안, 저장소 수정 없음)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Mini DRAM Controller  ·  요청 큐 + 뱅크 병렬 스케줄러  ·  용현 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1512" y="64739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19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60350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커밋 히스토리 → 원인 → 조치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029968"/>
          <a:ext cx="6035040" cy="317296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554480"/>
                <a:gridCol w="2286000"/>
                <a:gridCol w="219456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이슈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 · 근거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64" b="1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64e73e0</a:t>
                      </a:r>
                      <a:r>
                        <a:rPr sz="90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모델 컴파일 실패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64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row_match</a:t>
                      </a:r>
                      <a:r>
                        <a:rPr sz="90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· </a:t>
                      </a:r>
                      <a:r>
                        <a:rPr sz="864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legal_access</a:t>
                      </a:r>
                      <a:r>
                        <a:rPr sz="90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미선언 (L107–108) — 이번에 Verilator 에러 2건으로 재현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64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6049e5a</a:t>
                      </a:r>
                      <a:r>
                        <a:rPr sz="90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에서 식을 인라인. v0 A/B는 HEAD 모델 + v0 mem_ctrl로 측정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64" b="1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64e73e0</a:t>
                      </a:r>
                      <a:r>
                        <a:rPr sz="90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access_err 도입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PRE 누락 · 잘못된 row 접근을 모델이 플래그하고 TB가 횟수를 셈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TB에서 0회. 단 발화 경로는 미검증 (E)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64" b="1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6049e5a</a:t>
                      </a:r>
                      <a:r>
                        <a:rPr sz="90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읽기 파이프 1개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모델의 CAS 데이터 파이프가 하나 (coverage.md)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64" b="0" i="0">
                          <a:solidFill>
                            <a:srgbClr val="1F232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rd_inflight</a:t>
                      </a:r>
                      <a:r>
                        <a:rPr sz="90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 RD 직렬화 → RD 4클럭에 1번 (17쪽)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48640" y="5312664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문서 일부(spec §4/§5, scheduler-throughput.md 머리말)는 아직 v0 구조 기준 — 3쪽 참고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이 덱의 수치는 모두 v1 RTL을 다시 돌려 잰 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91640"/>
            <a:ext cx="478231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AI 보조 재검증 발견 (제안 · 미반영)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029968"/>
            <a:ext cx="4782312" cy="786384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0" y="2029968"/>
            <a:ext cx="45720" cy="7863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2121408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A</a:t>
            </a:r>
            <a:r>
              <a:rPr sz="10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 4비트 tag 랩어라운드 (18쪽)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414016"/>
            <a:ext cx="4507992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응답 버퍼 16칸인데 수락 한도가 없음 → 덮어쓰기 · 누락. 제안: 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tag_alloc + 1 ≠ tag_retire</a:t>
            </a: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로 수락 제한 (실험 PASS)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889504"/>
            <a:ext cx="4782312" cy="786384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0" y="2889504"/>
            <a:ext cx="45720" cy="7863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980944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B</a:t>
            </a:r>
            <a:r>
              <a:rPr sz="10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 대기 → 발행 handoff +1 (17쪽)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273552"/>
            <a:ext cx="4507992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tRCD · tRP 스펙 3, 실측 최소 4. 위반은 아니지만 클래스마다 1–2클럭 손해. 제안: preload t−2 또는 종료 클럭 발행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3749039"/>
            <a:ext cx="4782312" cy="786384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0" y="3749039"/>
            <a:ext cx="45720" cy="7863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3840479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C</a:t>
            </a:r>
            <a:r>
              <a:rPr sz="10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 병렬성 검사가 증거가 아님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133087"/>
            <a:ext cx="4507992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TB의 '열린 뱅크 ≥ 2'는 버스트 직전 0011로 이미 만족, v0도 PASS. 제안: 동시 활성 엔진 수나 버스트 클럭 수로 판정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4608576"/>
            <a:ext cx="4782312" cy="786384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4608576"/>
            <a:ext cx="45720" cy="7863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4700016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D</a:t>
            </a:r>
            <a:r>
              <a:rPr sz="10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 큐 깊이 · write hit 미검증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992624"/>
            <a:ext cx="4507992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blocking 태스크라 큐 점유 최대 1, L259 · L271 미실행. 제안: 응답을 기다리지 않는 연속 요청 + 같은 row WR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5468112"/>
            <a:ext cx="4782312" cy="786384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0" y="5468112"/>
            <a:ext cx="45720" cy="7863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5559552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E</a:t>
            </a:r>
            <a:r>
              <a:rPr sz="10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 모델 체커가 한 번도 발화하지 않음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852160"/>
            <a:ext cx="4507992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L110 · L133 분기 미실행 → access_err 경로를 시험한 적 없음. 제안: PRE 누락 · 잘못된 row 음성 테스트, 타이밍 assertion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10  PPA · 타이밍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PPA: 면적 58%가 플롭, 그 절반이 응답 버퍼 — 임계 경로는 tag 나이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sv2v → Yosys 0.52 → Nangate45 typical (OpenSTA 예제 라이브러리) → OpenSTA 3.1 · mem_ctrl만 · 배선 · 클럭 트리 없음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Mini DRAM Controller  ·  요청 큐 + 뱅크 병렬 스케줄러  ·  용현 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1512" y="64739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20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플롭 1,072개의 용도 (전부 DFFR/DFFS · 5.32 µm²)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응답 버퍼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2057400"/>
            <a:ext cx="2103120" cy="164592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83080" y="2057400"/>
            <a:ext cx="2103120" cy="1645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39" y="2011680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528 FF · 2,809 µm²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240280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rsp_data 512 · rsp_done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6888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뱅크 엔진 ×4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83080" y="2514600"/>
            <a:ext cx="2103120" cy="164592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83080" y="2514600"/>
            <a:ext cx="987829" cy="164592"/>
          </a:xfrm>
          <a:prstGeom prst="rect">
            <a:avLst/>
          </a:prstGeom>
          <a:solidFill>
            <a:srgbClr val="576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39" y="2468880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248 FF · 1,319 µm²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697480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b_wdata 128 · b_addr 48 · b_timer 32 · b_state 16 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92608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요청 큐 ×4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3080" y="2971800"/>
            <a:ext cx="2103120" cy="164592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83080" y="2971800"/>
            <a:ext cx="840451" cy="164592"/>
          </a:xfrm>
          <a:prstGeom prst="rect">
            <a:avLst/>
          </a:prstGeom>
          <a:solidFill>
            <a:srgbClr val="576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2926080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211 FF · 1,123 µm²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3154680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q_wdata 128 · q_addr 56 · q_tag 16 · q_valid 4 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38328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섀도 open-row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83080" y="3429000"/>
            <a:ext cx="2103120" cy="164592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83080" y="3429000"/>
            <a:ext cx="254923" cy="164592"/>
          </a:xfrm>
          <a:prstGeom prst="rect">
            <a:avLst/>
          </a:prstGeom>
          <a:solidFill>
            <a:srgbClr val="576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39" y="3383280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64 FF · 340 µm²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3611880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bank_row 32 · rc_rem 16 · ras_rem 12 · bank_open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84048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기타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83080" y="3886200"/>
            <a:ext cx="2103120" cy="164592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83080" y="3886200"/>
            <a:ext cx="83646" cy="164592"/>
          </a:xfrm>
          <a:prstGeom prst="rect">
            <a:avLst/>
          </a:prstGeom>
          <a:solidFill>
            <a:srgbClr val="576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77639" y="3840480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21 FF · 112 µm²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4069080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</a:rPr>
              <a:t>refi_cnt 7 · tag_alloc 4 · tag_retire 4 · rd_bank_q 2 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" y="4370832"/>
            <a:ext cx="5303520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8640" y="4416552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순차 5,703 µm² = 전체 9,819의 58%</a:t>
            </a:r>
            <a:r>
              <a:rPr sz="10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· 응답 버퍼만 29% · 데이터를 담는 플롭 768개 = FF의 72%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864608"/>
            <a:ext cx="5349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면적 레버 (미측정 · 셀 면적으로 추정)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138928"/>
            <a:ext cx="5349240" cy="12070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64592" indent="-164592">
              <a:lnSpc>
                <a:spcPct val="105000"/>
              </a:lnSpc>
              <a:spcAft>
                <a:spcPts val="200"/>
              </a:spcAft>
              <a:buClr>
                <a:srgbClr val="57606A"/>
              </a:buClr>
              <a:buSzPct val="100000"/>
              <a:buFont typeface="Arial"/>
              <a:buChar char="•"/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데이터 플롭 768개는 리셋 불필요 → DFF_X1(4.522)이면 약 −613 µm²</a:t>
            </a:r>
          </a:p>
          <a:p>
            <a:pPr algn="l" marL="164592" indent="-164592">
              <a:lnSpc>
                <a:spcPct val="105000"/>
              </a:lnSpc>
              <a:spcAft>
                <a:spcPts val="200"/>
              </a:spcAft>
              <a:buClr>
                <a:srgbClr val="57606A"/>
              </a:buClr>
              <a:buSzPct val="100000"/>
              <a:buFont typeface="Arial"/>
              <a:buChar char="•"/>
            </a:pP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b_timer</a:t>
            </a: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8b × 4 → 2b면 충분 (preload 최대 2) → −24 FF</a:t>
            </a:r>
          </a:p>
          <a:p>
            <a:pPr algn="l" marL="164592" indent="-164592">
              <a:lnSpc>
                <a:spcPct val="105000"/>
              </a:lnSpc>
              <a:spcAft>
                <a:spcPts val="200"/>
              </a:spcAft>
              <a:buClr>
                <a:srgbClr val="57606A"/>
              </a:buClr>
              <a:buSzPct val="100000"/>
              <a:buFont typeface="Arial"/>
              <a:buChar char="•"/>
            </a:pP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b_wdata</a:t>
            </a: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128 FF는 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q_wdata</a:t>
            </a: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의 복사 — 슬롯 인덱스만 넘기면 제거 가능</a:t>
            </a:r>
          </a:p>
          <a:p>
            <a:pPr algn="l" marL="164592" indent="-164592">
              <a:lnSpc>
                <a:spcPct val="105000"/>
              </a:lnSpc>
              <a:spcAft>
                <a:spcPts val="200"/>
              </a:spcAft>
              <a:buClr>
                <a:srgbClr val="57606A"/>
              </a:buClr>
              <a:buSzPct val="100000"/>
              <a:buFont typeface="Arial"/>
              <a:buChar char="•"/>
            </a:pPr>
            <a:r>
              <a:rPr sz="9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tag 수 = 응답 버퍼 깊이 — fix의 수락 한도와 함께 줄이면 비례 감소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6172200" y="1645920"/>
          <a:ext cx="5468112" cy="185623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280160"/>
                <a:gridCol w="1005840"/>
                <a:gridCol w="1078992"/>
                <a:gridCol w="1051560"/>
                <a:gridCol w="1051560"/>
              </a:tblGrid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 head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fix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면적 µm²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1,208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9,819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9,692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9,774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셀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559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4,414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4,433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4,384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FF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1,072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1,072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1,072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reg2reg ns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0.809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2.642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2.880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2.644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≈ fmax MHz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1,182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373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343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374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전력 mW *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1.63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18.26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18.31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17.94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6172200" y="3611880"/>
            <a:ext cx="546811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임계 경로 (reg2reg, v1 head)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3913632"/>
            <a:ext cx="5468112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64592" indent="-164592">
              <a:lnSpc>
                <a:spcPct val="108000"/>
              </a:lnSpc>
              <a:spcAft>
                <a:spcPts val="300"/>
              </a:spcAft>
              <a:buClr>
                <a:srgbClr val="57606A"/>
              </a:buClr>
              <a:buSzPct val="100000"/>
              <a:buFont typeface="Arial"/>
              <a:buChar char="•"/>
            </a:pP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tag_retire[1]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q_tag − tag_retire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나이 비교 → 슬롯 선택 → page 판정 →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b_state[2][2]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· 29단 2.642 ns. 팬아웃 46 NOR4 한 단이 0.866 ns (33%)</a:t>
            </a:r>
          </a:p>
          <a:p>
            <a:pPr algn="l" marL="164592" indent="-164592">
              <a:lnSpc>
                <a:spcPct val="108000"/>
              </a:lnSpc>
              <a:spcAft>
                <a:spcPts val="300"/>
              </a:spcAft>
              <a:buClr>
                <a:srgbClr val="57606A"/>
              </a:buClr>
              <a:buSzPct val="100000"/>
              <a:buFont typeface="Arial"/>
              <a:buChar char="•"/>
            </a:pP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reg2out 1.615 ns (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rr_ptr[1]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dram_row[1]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, 명령 출력 레지스터 없음) · in2reg 1.677 ns (</a:t>
            </a:r>
            <a:r>
              <a:rPr sz="911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dram_busy</a:t>
            </a:r>
            <a:r>
              <a:rPr sz="9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5074920"/>
            <a:ext cx="5468112" cy="1261872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2200" y="5074920"/>
            <a:ext cx="45720" cy="126187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5166359"/>
            <a:ext cx="51937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읽는 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5458968"/>
            <a:ext cx="5193792" cy="8321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Nangate45는 공개 교육용 라이브러리 · 배선 부하 · 클럭 트리 없음 · *전력은 500 MHz, 입력 토글 0.1 가정 (벡터 없음), 순차 47.6% / 조합 52.4%. 절대값이 아니라 v0 · v1 · 패치끼리의 상대 비교용이다. 저장소 문서의 PPA는 지연 · 처리량만 다룬다.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11  AI 활용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AI 활용: 초안 · 분석은 AI에 맡기고, 작업 지시와 결과 확인은 직접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실무에서 LLM을 쓴 방식과, 이 포트폴리오를 만든 파이프라인을 구분해 적는다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Mini DRAM Controller  ·  요청 큐 + 뱅크 병렬 스케줄러  ·  용현 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1512" y="64739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21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29968"/>
            <a:ext cx="5394960" cy="2267712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2029968"/>
            <a:ext cx="45720" cy="226771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39696"/>
            <a:ext cx="5074920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실무 (SoC 디지털 설계) · Claude Opus · GPT</a:t>
            </a:r>
          </a:p>
          <a:p>
            <a:pPr algn="l" marL="164592" indent="-164592">
              <a:lnSpc>
                <a:spcPct val="120000"/>
              </a:lnSpc>
              <a:spcAft>
                <a:spcPts val="600"/>
              </a:spcAft>
              <a:buClr>
                <a:srgbClr val="C8102E"/>
              </a:buClr>
              <a:buSzPct val="100000"/>
              <a:buFont typeface="Arial"/>
              <a:buChar char="■"/>
            </a:pPr>
            <a:r>
              <a:rPr sz="10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I2C Master IP RTL: FSM · 레지스터 뼈대를 LLM 초안으로 빠르게 구현</a:t>
            </a:r>
          </a:p>
          <a:p>
            <a:pPr algn="l" marL="164592" indent="-164592">
              <a:lnSpc>
                <a:spcPct val="120000"/>
              </a:lnSpc>
              <a:spcAft>
                <a:spcPts val="600"/>
              </a:spcAft>
              <a:buClr>
                <a:srgbClr val="C8102E"/>
              </a:buClr>
              <a:buSzPct val="100000"/>
              <a:buFont typeface="Arial"/>
              <a:buChar char="■"/>
            </a:pPr>
            <a:r>
              <a:rPr sz="10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Chip Top UVM 환경: Driver · Monitor · Sequence 코드 생성 자동화</a:t>
            </a:r>
          </a:p>
          <a:p>
            <a:pPr algn="l" marL="164592" indent="-164592">
              <a:lnSpc>
                <a:spcPct val="120000"/>
              </a:lnSpc>
              <a:spcAft>
                <a:spcPts val="600"/>
              </a:spcAft>
              <a:buClr>
                <a:srgbClr val="C8102E"/>
              </a:buClr>
              <a:buSzPct val="100000"/>
              <a:buFont typeface="Arial"/>
              <a:buChar char="■"/>
            </a:pPr>
            <a:r>
              <a:rPr sz="10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설계 초안 작성 · 검증 셋업 시간 2배 이상 단축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sz="10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이 포트폴리오 · Cursor AI 에이전트 + 스크립트</a:t>
            </a:r>
          </a:p>
          <a:p>
            <a:pPr algn="l" marL="164592" indent="-164592">
              <a:lnSpc>
                <a:spcPct val="120000"/>
              </a:lnSpc>
              <a:spcAft>
                <a:spcPts val="600"/>
              </a:spcAft>
              <a:buClr>
                <a:srgbClr val="C8102E"/>
              </a:buClr>
              <a:buSzPct val="100000"/>
              <a:buFont typeface="Arial"/>
              <a:buChar char="■"/>
            </a:pPr>
            <a:r>
              <a:rPr sz="10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AI 에이전트: 재실행 · VCD 파형 분석 · 합성 리포트 · 덱 생성</a:t>
            </a:r>
          </a:p>
          <a:p>
            <a:pPr algn="l" marL="164592" indent="-164592">
              <a:lnSpc>
                <a:spcPct val="120000"/>
              </a:lnSpc>
              <a:spcAft>
                <a:spcPts val="600"/>
              </a:spcAft>
              <a:buClr>
                <a:srgbClr val="C8102E"/>
              </a:buClr>
              <a:buSzPct val="100000"/>
              <a:buFont typeface="Arial"/>
              <a:buChar char="■"/>
            </a:pPr>
            <a:r>
              <a:rPr sz="10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본인: 작업 지시와 결과(숫자 · 파형 · 리포트) 확인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1691640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실제 사용 — 실무와 이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98848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원칙 (이 덱에 적용한 것)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18888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64592" indent="-164592">
              <a:lnSpc>
                <a:spcPct val="108000"/>
              </a:lnSpc>
              <a:spcAft>
                <a:spcPts val="400"/>
              </a:spcAft>
              <a:buClr>
                <a:srgbClr val="C8102E"/>
              </a:buClr>
              <a:buSzPct val="100000"/>
              <a:buFont typeface="Arial"/>
              <a:buChar char="■"/>
            </a:pPr>
            <a:r>
              <a:rPr sz="10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숫자는 손으로 옮기지 않는다: 시뮬 · 합성 출력 파일 → 스크립트 → 슬라이드</a:t>
            </a:r>
          </a:p>
          <a:p>
            <a:pPr algn="l" marL="164592" indent="-164592">
              <a:lnSpc>
                <a:spcPct val="108000"/>
              </a:lnSpc>
              <a:spcAft>
                <a:spcPts val="400"/>
              </a:spcAft>
              <a:buClr>
                <a:srgbClr val="C8102E"/>
              </a:buClr>
              <a:buSzPct val="100000"/>
              <a:buFont typeface="Arial"/>
              <a:buChar char="■"/>
            </a:pPr>
            <a:r>
              <a:rPr sz="10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측정할 수 없는 것은 '미측정 · 추정 · 확인 필요'로 표시</a:t>
            </a:r>
          </a:p>
          <a:p>
            <a:pPr algn="l" marL="164592" indent="-164592">
              <a:lnSpc>
                <a:spcPct val="108000"/>
              </a:lnSpc>
              <a:spcAft>
                <a:spcPts val="400"/>
              </a:spcAft>
              <a:buClr>
                <a:srgbClr val="C8102E"/>
              </a:buClr>
              <a:buSzPct val="100000"/>
              <a:buFont typeface="Arial"/>
              <a:buChar char="■"/>
            </a:pPr>
            <a:r>
              <a:rPr sz="10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AI가 제안한 수정은 스크래치에서만 시험하고, PASS/FAIL로 판정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533095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이 포트폴리오를 만든 파이프라인 (Cursor AI 에이전트 + 스크립트)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029968"/>
            <a:ext cx="5330952" cy="530352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19088" y="217627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06654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저장소 고정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6654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commit 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6049e5a</a:t>
            </a: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 = origin/main · git status clean · 소스 수정 없음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37960" y="2560320"/>
            <a:ext cx="0" cy="128016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309360" y="2688336"/>
            <a:ext cx="5330952" cy="530352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19088" y="283464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272491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Verilator 재실행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72491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Makefile과 같은 플래그 · 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--trace</a:t>
            </a: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 래퍼 · </a:t>
            </a:r>
            <a:r>
              <a:rPr sz="864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--coverage</a:t>
            </a: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 → log · VCD · coverage.dat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37960" y="3218688"/>
            <a:ext cx="0" cy="128016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309360" y="3346704"/>
            <a:ext cx="5330952" cy="530352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19088" y="349300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33832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VCD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3832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명령 간격 7규칙 · 요청별 page 클래스 · 지연 분해 · 엔진 동시성 (analyze.py)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37960" y="3877056"/>
            <a:ext cx="0" cy="128016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309360" y="4005072"/>
            <a:ext cx="5330952" cy="530352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19088" y="41513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404164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A/B · 실험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04164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v0 (64e73e0) · opt · fix 패치와 백프레셔 TB — 스크래치 폴더에서만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37960" y="4535424"/>
            <a:ext cx="0" cy="128016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309360" y="4663440"/>
            <a:ext cx="5330952" cy="530352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19088" y="480974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4700016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합성 · STA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700016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sv2v → Yosys → Nangate45 → OpenSTA · 플롭을 RTL 레지스터로 역추적해 집계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37960" y="5193792"/>
            <a:ext cx="0" cy="128015"/>
          </a:xfrm>
          <a:prstGeom prst="line">
            <a:avLst/>
          </a:prstGeom>
          <a:ln w="12700">
            <a:solidFill>
              <a:srgbClr val="5760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6309360" y="5321808"/>
            <a:ext cx="5330952" cy="530352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19088" y="546811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onsolas"/>
                <a:ea typeface="Malgun Gothic"/>
                <a:cs typeface="Malgun Gothic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4848" y="535838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덱 생성 · 리뷰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535838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pygments 코드 캡처 · matplotlib 파형 · python-pptx 도형 · 전 슬라이드 렌더 검토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6016752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19쪽 발견 A–E와 패치는 분석 중 AI 에이전트가 제안 — 스크래치에서만 시험, 저장소 수정 없음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12 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JD 연결: DRAM Memory Controller를 설계하고, 클럭 단위로 분석한다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7606A"/>
                </a:solidFill>
                <a:latin typeface="Malgun Gothic"/>
                <a:ea typeface="Malgun Gothic"/>
                <a:cs typeface="Malgun Gothic"/>
              </a:rPr>
              <a:t>SK hynix HBM Digital Design (RTL Design) — 담당 업무 · 우대 사항과 이 프로젝트의 근거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Mini DRAM Controller  ·  요청 큐 + 뱅크 병렬 스케줄러  ·  용현 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1512" y="64739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C959F"/>
                </a:solidFill>
                <a:latin typeface="Malgun Gothic"/>
                <a:ea typeface="Malgun Gothic"/>
                <a:cs typeface="Malgun Gothic"/>
              </a:rPr>
              <a:t>22 / 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91640"/>
          <a:ext cx="7543800" cy="417880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148840"/>
                <a:gridCol w="4526280"/>
                <a:gridCol w="86868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JD 항목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프로젝트의 근거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쪽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57606A"/>
                      </a:solidFill>
                      <a:prstDash val="solid"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C8102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DRAM Memory Controller 설계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깊이 4 큐 · oldest-tag dispatch · 뱅크 엔진 ×4 · PRE &gt; ACT &gt; WR &gt; RD 중재 · drain-then-REF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5–11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C8102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DRAM Memory Controller 분석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클래스별 지연 분해 (+1 원인 3개) · 버스트 2.06× · 리프레시 18.3%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14–17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Spec · PPA → Architecture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주소 맵 · 타이밍 8개 고정, v0 → v1을 지연 · 처리량 · 면적으로 비교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3–4, 20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RTL 설계 · Function 검증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저장소 TB PASS + VCD 타이밍 체커 위반 0 · 커버리지 구멍 → 실험 TB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12–13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이슈 분석 · 디버그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tag 랩어라운드 재현 → 수정안(스크래치) 20/20 PASS · AI 보조 재검증 제안 5건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18–19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 Guide · PPA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Nangate45 면적 · 타이밍 · 전력 참고치, 임계 경로와 면적 레버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DRAM DFT / DFD · Wafer Test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관측 포트 (access_err · bank_open)까지 — 테스트 모드 · BIST는 범위 밖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5, 11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High Speed PHY · Full-custom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 밖 — High Speed Link Lite 포트폴리오에서 다룸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–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noFill/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LLM / AI 기반 EDA 자동화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실무: LLM으로 RTL 뼈대 · UVM 코드 생성, 초안 · 셋업 시간 2배 이상 단축</a:t>
                      </a:r>
                      <a:b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</a:b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덱: AI 에이전트로 재실행 · VCD 분석 · 합성 리포트 · 덱 생성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57606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321040" y="1691640"/>
            <a:ext cx="331927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다음 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029968"/>
            <a:ext cx="3319272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64592" indent="-164592">
              <a:lnSpc>
                <a:spcPct val="108000"/>
              </a:lnSpc>
              <a:spcAft>
                <a:spcPts val="400"/>
              </a:spcAft>
              <a:buClr>
                <a:srgbClr val="C8102E"/>
              </a:buClr>
              <a:buSzPct val="100000"/>
              <a:buFont typeface="Arial"/>
              <a:buChar char="■"/>
            </a:pPr>
            <a:r>
              <a:rPr sz="10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fix 반영 + 백프레셔 · REF-under-load 회귀 추가</a:t>
            </a:r>
          </a:p>
          <a:p>
            <a:pPr algn="l" marL="164592" indent="-164592">
              <a:lnSpc>
                <a:spcPct val="108000"/>
              </a:lnSpc>
              <a:spcAft>
                <a:spcPts val="400"/>
              </a:spcAft>
              <a:buClr>
                <a:srgbClr val="C8102E"/>
              </a:buClr>
              <a:buSzPct val="100000"/>
              <a:buFont typeface="Arial"/>
              <a:buChar char="■"/>
            </a:pPr>
            <a:r>
              <a:rPr sz="10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대기 종료 클럭 발행으로 handoff +1 제거</a:t>
            </a:r>
          </a:p>
          <a:p>
            <a:pPr algn="l" marL="164592" indent="-164592">
              <a:lnSpc>
                <a:spcPct val="108000"/>
              </a:lnSpc>
              <a:spcAft>
                <a:spcPts val="400"/>
              </a:spcAft>
              <a:buClr>
                <a:srgbClr val="C8102E"/>
              </a:buClr>
              <a:buSzPct val="100000"/>
              <a:buFont typeface="Arial"/>
              <a:buChar char="■"/>
            </a:pPr>
            <a:r>
              <a:rPr sz="10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non-blocking 호스트 + 랜덤 트래픽으로 큐 깊이 · write hit</a:t>
            </a:r>
          </a:p>
          <a:p>
            <a:pPr algn="l" marL="164592" indent="-164592">
              <a:lnSpc>
                <a:spcPct val="108000"/>
              </a:lnSpc>
              <a:spcAft>
                <a:spcPts val="400"/>
              </a:spcAft>
              <a:buClr>
                <a:srgbClr val="C8102E"/>
              </a:buClr>
              <a:buSzPct val="100000"/>
              <a:buFont typeface="Arial"/>
              <a:buChar char="■"/>
            </a:pPr>
            <a:r>
              <a:rPr sz="10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모델에 타이밍 assertion · 음성 테스트</a:t>
            </a:r>
          </a:p>
          <a:p>
            <a:pPr algn="l" marL="164592" indent="-164592">
              <a:lnSpc>
                <a:spcPct val="108000"/>
              </a:lnSpc>
              <a:spcAft>
                <a:spcPts val="400"/>
              </a:spcAft>
              <a:buClr>
                <a:srgbClr val="C8102E"/>
              </a:buClr>
              <a:buSzPct val="100000"/>
              <a:buFont typeface="Arial"/>
              <a:buChar char="■"/>
            </a:pPr>
            <a:r>
              <a:rPr sz="10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응답 버퍼 · </a:t>
            </a:r>
            <a:r>
              <a:rPr sz="96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</a:rPr>
              <a:t>b_timer</a:t>
            </a:r>
            <a:r>
              <a:rPr sz="100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 축소 후 면적 재측정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114800"/>
            <a:ext cx="331927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한 줄 요약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434840"/>
            <a:ext cx="3319272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타이밍을 지키는 컨트롤러를 만들고, 그 컨트롤러가 얼마나 빠른지 · 어디서 깨지는지를 파형과 숫자로 설명한다.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5285232"/>
            <a:ext cx="3319272" cy="10515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5285232"/>
            <a:ext cx="45720" cy="1051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534924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용현 권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000" b="0" i="0">
                <a:solidFill>
                  <a:srgbClr val="1F2328"/>
                </a:solidFill>
                <a:latin typeface="Consolas"/>
                <a:ea typeface="Malgun Gothic"/>
                <a:cs typeface="Malgun Gothic"/>
                <a:hlinkClick r:id="rId2"/>
              </a:rPr>
              <a:t>kyongh0331@naver.com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850" b="0" i="0">
                <a:solidFill>
                  <a:srgbClr val="57606A"/>
                </a:solidFill>
                <a:latin typeface="Consolas"/>
                <a:ea typeface="Malgun Gothic"/>
                <a:cs typeface="Malgun Gothic"/>
                <a:hlinkClick r:id="rId3"/>
              </a:rPr>
              <a:t>github.com/yhkwon-git/mini-dram-controller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969D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DRAM Controller — 요청 큐 + 뱅크 병렬 스케줄러 (포트폴리오)</dc:title>
  <dc:subject/>
  <dc:creator>용현 권</dc:creator>
  <cp:keywords/>
  <dc:description/>
  <cp:lastModifiedBy>용현 권</cp:lastModifiedBy>
  <cp:revision>1</cp:revision>
  <dcterms:created xsi:type="dcterms:W3CDTF">2013-01-27T09:14:16Z</dcterms:created>
  <dcterms:modified xsi:type="dcterms:W3CDTF">2013-01-27T09:15:58Z</dcterms:modified>
  <cp:category/>
</cp:coreProperties>
</file>